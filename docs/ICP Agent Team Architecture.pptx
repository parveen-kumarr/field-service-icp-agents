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this. One sentence: six agents that read the conference site live, research every company, score it against the ideal customer profile and plan the first conversation, all by messaging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top to bottom. The point to land: each agent has one job and its own inbox; they hand work on and ask each other questions, so the answer emerges from the conversation, not from one big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to bottom: live inputs, the six agents, the runtime that carries their messages, the pool of free models they think with, and what comes out. Say that nothing is pre-loaded: every page is fetched during the run and recorded with its HTTP status, time and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to bottom. The Coordinator starts the Scout and the Researcher at the same time. The Scout fetches the site live, notices the 2027 speaker list is empty and follows the site's own link to 2026. It then asks the Analyst to triage: 43 vendors, consultants and competitors are set aside before any research is spent on them. The other 76 are handed to the Researcher.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repeats for each account, many in parallel. The Researcher searches the web and writes a sourced brief. The Analyst scores five dimensions; if the evidence is thin it asks the Researcher a question and waits for the answer before scoring. Strong accounts go to the Strategist, who can ask for a current hook and drafts openers. When every account is done the Coordinator writes the debrief and the Reporter produces the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pool is what makes free models practical: it knows every model's limits, spreads the work, and recovers from refusals on its own. Be honest about speed: the ceiling is the free tiers' tokens per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from the full run on 1 October 2026. Point at one row, Illumina: why it scored 96, and the named person to meet with a ready draft opener.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3233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463014"/>
            <a:ext cx="10566400" cy="4582186"/>
          </a:xfrm>
          <a:prstGeom prst="rect">
            <a:avLst/>
          </a:prstGeom>
          <a:noFill/>
          <a:ln/>
        </p:spPr>
        <p:txBody>
          <a:bodyPr wrap="square" lIns="0" tIns="0" rIns="0" bIns="0" rtlCol="0" anchor="t"/>
          <a:lstStyle>
            <a:lvl1pPr algn="l" indent="0" marL="0">
              <a:lnSpc>
                <a:spcPct val="140000"/>
              </a:lnSpc>
              <a:buNone/>
              <a:defRPr lang="en-US" sz="1600" dirty="0">
                <a:solidFill>
                  <a:srgbClr val="13233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3233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463014"/>
            <a:ext cx="10566400" cy="4582186"/>
          </a:xfrm>
          <a:prstGeom prst="rect">
            <a:avLst/>
          </a:prstGeom>
          <a:noFill/>
          <a:ln/>
        </p:spPr>
        <p:txBody>
          <a:bodyPr wrap="square" lIns="0" tIns="0" rIns="0" bIns="0" rtlCol="0" anchor="t"/>
          <a:lstStyle>
            <a:lvl1pPr algn="l" indent="0" marL="0">
              <a:lnSpc>
                <a:spcPct val="140000"/>
              </a:lnSpc>
              <a:buNone/>
              <a:defRPr lang="en-US" sz="1600" dirty="0">
                <a:solidFill>
                  <a:srgbClr val="13233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slideLayout" Target="../slideLayouts/slideLayout2.xml"/><Relationship Id="rId2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slideLayout" Target="../slideLayouts/slideLayout2.xml"/><Relationship Id="rId2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812800" y="1650603"/>
            <a:ext cx="10883392" cy="274307"/>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E0712B"/>
                </a:solidFill>
                <a:latin typeface="JetBrains Mono" pitchFamily="49" charset="0"/>
                <a:ea typeface="JetBrains Mono" pitchFamily="49" charset="-122"/>
                <a:cs typeface="JetBrains Mono" pitchFamily="49" charset="-120"/>
              </a:rPr>
              <a:t>ARCHITECTURE · FIELD SERVICE NEXT WEST</a:t>
            </a:r>
            <a:endParaRPr lang="en-US" sz="1400" dirty="0"/>
          </a:p>
        </p:txBody>
      </p:sp>
      <p:sp>
        <p:nvSpPr>
          <p:cNvPr id="3" name="Text 1"/>
          <p:cNvSpPr/>
          <p:nvPr>
            <p:ph type="title"/>
          </p:nvPr>
        </p:nvSpPr>
        <p:spPr>
          <a:xfrm>
            <a:off x="812800" y="2153510"/>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5F0"/>
                </a:solidFill>
                <a:latin typeface="IBM Plex Sans" pitchFamily="34" charset="0"/>
                <a:ea typeface="IBM Plex Sans" pitchFamily="34" charset="-122"/>
                <a:cs typeface="IBM Plex Sans" pitchFamily="34" charset="-120"/>
              </a:rPr>
              <a:t>Field-Service ICP</a:t>
            </a:r>
            <a:endParaRPr lang="en-US" sz="5600" dirty="0"/>
          </a:p>
          <a:p>
            <a:pPr algn="l" indent="0" marL="0">
              <a:lnSpc>
                <a:spcPts val="5880"/>
              </a:lnSpc>
              <a:buNone/>
            </a:pPr>
            <a:r>
              <a:rPr lang="en-US" sz="5600" b="1" i="0" dirty="0">
                <a:solidFill>
                  <a:srgbClr val="F6F5F0"/>
                </a:solidFill>
                <a:latin typeface="IBM Plex Sans" pitchFamily="34" charset="0"/>
                <a:ea typeface="IBM Plex Sans" pitchFamily="34" charset="-122"/>
                <a:cs typeface="IBM Plex Sans" pitchFamily="34" charset="-120"/>
              </a:rPr>
              <a:t>Agent Team</a:t>
            </a:r>
            <a:endParaRPr lang="en-US" sz="5600" dirty="0"/>
          </a:p>
        </p:txBody>
      </p:sp>
      <p:sp>
        <p:nvSpPr>
          <p:cNvPr id="4" name="Text 2"/>
          <p:cNvSpPr/>
          <p:nvPr/>
        </p:nvSpPr>
        <p:spPr>
          <a:xfrm>
            <a:off x="812800" y="3900951"/>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3E0"/>
                </a:solidFill>
                <a:latin typeface="IBM Plex Sans" pitchFamily="34" charset="0"/>
                <a:ea typeface="IBM Plex Sans" pitchFamily="34" charset="-122"/>
                <a:cs typeface="IBM Plex Sans" pitchFamily="34" charset="-120"/>
              </a:rPr>
              <a:t>Six AI agents that turn a conference website into a qualified, ready-to-work prospect list, live, by talking to each other.</a:t>
            </a:r>
            <a:endParaRPr lang="en-US" sz="2000" dirty="0"/>
          </a:p>
        </p:txBody>
      </p:sp>
      <p:sp>
        <p:nvSpPr>
          <p:cNvPr id="5" name="Text 3"/>
          <p:cNvSpPr/>
          <p:nvPr/>
        </p:nvSpPr>
        <p:spPr>
          <a:xfrm>
            <a:off x="815975" y="4843926"/>
            <a:ext cx="2383764" cy="360230"/>
          </a:xfrm>
          <a:prstGeom prst="roundRect">
            <a:avLst>
              <a:gd name="adj" fmla="val 50000"/>
            </a:avLst>
          </a:prstGeom>
          <a:noFill/>
          <a:ln w="6350">
            <a:solidFill>
              <a:srgbClr val="3A5277"/>
            </a:solidFill>
            <a:prstDash val="solid"/>
          </a:ln>
        </p:spPr>
        <p:txBody>
          <a:bodyPr wrap="none" lIns="0" tIns="0" rIns="0" bIns="0" rtlCol="0" anchor="ctr">
            <a:normAutofit/>
          </a:bodyPr>
          <a:lstStyle/>
          <a:p>
            <a:pPr algn="ct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Live scraping, no saved data</a:t>
            </a:r>
            <a:endParaRPr lang="en-US" sz="1300" dirty="0"/>
          </a:p>
        </p:txBody>
      </p:sp>
      <p:sp>
        <p:nvSpPr>
          <p:cNvPr id="6" name="Text 4"/>
          <p:cNvSpPr/>
          <p:nvPr/>
        </p:nvSpPr>
        <p:spPr>
          <a:xfrm>
            <a:off x="3358489" y="4843926"/>
            <a:ext cx="1862667" cy="360230"/>
          </a:xfrm>
          <a:prstGeom prst="roundRect">
            <a:avLst>
              <a:gd name="adj" fmla="val 50000"/>
            </a:avLst>
          </a:prstGeom>
          <a:noFill/>
          <a:ln w="6350">
            <a:solidFill>
              <a:srgbClr val="3A5277"/>
            </a:solidFill>
            <a:prstDash val="solid"/>
          </a:ln>
        </p:spPr>
        <p:txBody>
          <a:bodyPr wrap="none" lIns="0" tIns="0" rIns="0" bIns="0" rtlCol="0" anchor="ctr">
            <a:normAutofit/>
          </a:bodyPr>
          <a:lstStyle/>
          <a:p>
            <a:pPr algn="ct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6 cooperating agents</a:t>
            </a:r>
            <a:endParaRPr lang="en-US" sz="1300" dirty="0"/>
          </a:p>
        </p:txBody>
      </p:sp>
      <p:sp>
        <p:nvSpPr>
          <p:cNvPr id="7" name="Text 5"/>
          <p:cNvSpPr/>
          <p:nvPr/>
        </p:nvSpPr>
        <p:spPr>
          <a:xfrm>
            <a:off x="5379905" y="4843926"/>
            <a:ext cx="1949053" cy="360230"/>
          </a:xfrm>
          <a:prstGeom prst="roundRect">
            <a:avLst>
              <a:gd name="adj" fmla="val 50000"/>
            </a:avLst>
          </a:prstGeom>
          <a:noFill/>
          <a:ln w="6350">
            <a:solidFill>
              <a:srgbClr val="3A5277"/>
            </a:solidFill>
            <a:prstDash val="solid"/>
          </a:ln>
        </p:spPr>
        <p:txBody>
          <a:bodyPr wrap="none" lIns="0" tIns="0" rIns="0" bIns="0" rtlCol="0" anchor="ctr">
            <a:normAutofit/>
          </a:bodyPr>
          <a:lstStyle/>
          <a:p>
            <a:pPr algn="ct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Pool of free AI models</a:t>
            </a:r>
            <a:endParaRPr lang="en-US" sz="1300" dirty="0"/>
          </a:p>
        </p:txBody>
      </p:sp>
      <p:sp>
        <p:nvSpPr>
          <p:cNvPr id="8" name="Text 6"/>
          <p:cNvSpPr/>
          <p:nvPr/>
        </p:nvSpPr>
        <p:spPr>
          <a:xfrm>
            <a:off x="7487709" y="4843926"/>
            <a:ext cx="2097617" cy="360230"/>
          </a:xfrm>
          <a:prstGeom prst="roundRect">
            <a:avLst>
              <a:gd name="adj" fmla="val 50000"/>
            </a:avLst>
          </a:prstGeom>
          <a:noFill/>
          <a:ln w="6350">
            <a:solidFill>
              <a:srgbClr val="3A5277"/>
            </a:solidFill>
            <a:prstDash val="solid"/>
          </a:ln>
        </p:spPr>
        <p:txBody>
          <a:bodyPr wrap="none" lIns="0" tIns="0" rIns="0" bIns="0" rtlCol="0" anchor="ctr">
            <a:normAutofit/>
          </a:bodyPr>
          <a:lstStyle/>
          <a:p>
            <a:pPr algn="ct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Excel · transcript · JSON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F"/>
                </a:solidFill>
                <a:latin typeface="IBM Plex Sans" pitchFamily="34" charset="0"/>
                <a:ea typeface="IBM Plex Sans" pitchFamily="34" charset="-122"/>
                <a:cs typeface="IBM Plex Sans" pitchFamily="34" charset="-120"/>
              </a:rPr>
              <a:t>Six agents, one team</a:t>
            </a:r>
            <a:endParaRPr lang="en-US" sz="3200" dirty="0"/>
          </a:p>
        </p:txBody>
      </p:sp>
      <p:sp>
        <p:nvSpPr>
          <p:cNvPr id="3" name="Shape 1"/>
          <p:cNvSpPr/>
          <p:nvPr/>
        </p:nvSpPr>
        <p:spPr>
          <a:xfrm>
            <a:off x="815975" y="1364589"/>
            <a:ext cx="3414183" cy="1854266"/>
          </a:xfrm>
          <a:prstGeom prst="roundRect">
            <a:avLst>
              <a:gd name="adj" fmla="val 5308"/>
            </a:avLst>
          </a:prstGeom>
          <a:solidFill>
            <a:srgbClr val="FDFCF9"/>
          </a:solidFill>
          <a:ln w="6350">
            <a:solidFill>
              <a:srgbClr val="E1DED6"/>
            </a:solidFill>
            <a:prstDash val="solid"/>
          </a:ln>
        </p:spPr>
      </p:sp>
      <p:pic>
        <p:nvPicPr>
          <p:cNvPr id="4" name="Image 0" descr="Users">    </p:cNvPr>
          <p:cNvPicPr>
            <a:picLocks noChangeAspect="1"/>
          </p:cNvPicPr>
          <p:nvPr/>
        </p:nvPicPr>
        <p:blipFill>
          <a:blip r:embed="rId1"/>
          <a:srcRect l="0" r="0" t="0" b="0"/>
          <a:stretch/>
        </p:blipFill>
        <p:spPr>
          <a:xfrm>
            <a:off x="1020233" y="1543447"/>
            <a:ext cx="279400" cy="279400"/>
          </a:xfrm>
          <a:prstGeom prst="rect">
            <a:avLst/>
          </a:prstGeom>
        </p:spPr>
      </p:pic>
      <p:sp>
        <p:nvSpPr>
          <p:cNvPr id="5" name="Text 2"/>
          <p:cNvSpPr/>
          <p:nvPr/>
        </p:nvSpPr>
        <p:spPr>
          <a:xfrm>
            <a:off x="1401233" y="1545961"/>
            <a:ext cx="1508839"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33F"/>
                </a:solidFill>
                <a:latin typeface="IBM Plex Sans" pitchFamily="34" charset="0"/>
                <a:ea typeface="IBM Plex Sans" pitchFamily="34" charset="-122"/>
                <a:cs typeface="IBM Plex Sans" pitchFamily="34" charset="-120"/>
              </a:rPr>
              <a:t>Coordinator</a:t>
            </a:r>
            <a:endParaRPr lang="en-US" sz="1800" dirty="0"/>
          </a:p>
        </p:txBody>
      </p:sp>
      <p:sp>
        <p:nvSpPr>
          <p:cNvPr id="6" name="Text 3"/>
          <p:cNvSpPr/>
          <p:nvPr/>
        </p:nvSpPr>
        <p:spPr>
          <a:xfrm>
            <a:off x="1020233" y="1899047"/>
            <a:ext cx="3095837"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Plans the run, tracks every account, posts progress and writes the leadership debrief.</a:t>
            </a:r>
            <a:endParaRPr lang="en-US" sz="1300" dirty="0"/>
          </a:p>
        </p:txBody>
      </p:sp>
      <p:sp>
        <p:nvSpPr>
          <p:cNvPr id="7" name="Text 4"/>
          <p:cNvSpPr/>
          <p:nvPr/>
        </p:nvSpPr>
        <p:spPr>
          <a:xfrm>
            <a:off x="1020233" y="2643783"/>
            <a:ext cx="309583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4E16"/>
                </a:solidFill>
                <a:latin typeface="JetBrains Mono" pitchFamily="49" charset="0"/>
                <a:ea typeface="JetBrains Mono" pitchFamily="49" charset="-122"/>
                <a:cs typeface="JetBrains Mono" pitchFamily="49" charset="-120"/>
              </a:rPr>
              <a:t>Talks to: every agent</a:t>
            </a:r>
            <a:endParaRPr lang="en-US" sz="1200" dirty="0"/>
          </a:p>
        </p:txBody>
      </p:sp>
      <p:sp>
        <p:nvSpPr>
          <p:cNvPr id="8" name="Shape 5"/>
          <p:cNvSpPr/>
          <p:nvPr/>
        </p:nvSpPr>
        <p:spPr>
          <a:xfrm>
            <a:off x="4388908" y="1364589"/>
            <a:ext cx="3414183" cy="1854266"/>
          </a:xfrm>
          <a:prstGeom prst="roundRect">
            <a:avLst>
              <a:gd name="adj" fmla="val 5308"/>
            </a:avLst>
          </a:prstGeom>
          <a:solidFill>
            <a:srgbClr val="FDFCF9"/>
          </a:solidFill>
          <a:ln w="6350">
            <a:solidFill>
              <a:srgbClr val="E1DED6"/>
            </a:solidFill>
            <a:prstDash val="solid"/>
          </a:ln>
        </p:spPr>
      </p:sp>
      <p:pic>
        <p:nvPicPr>
          <p:cNvPr id="9" name="Image 1" descr="Search">    </p:cNvPr>
          <p:cNvPicPr>
            <a:picLocks noChangeAspect="1"/>
          </p:cNvPicPr>
          <p:nvPr/>
        </p:nvPicPr>
        <p:blipFill>
          <a:blip r:embed="rId2"/>
          <a:srcRect l="0" r="0" t="0" b="0"/>
          <a:stretch/>
        </p:blipFill>
        <p:spPr>
          <a:xfrm>
            <a:off x="4593167" y="1543447"/>
            <a:ext cx="279400" cy="279400"/>
          </a:xfrm>
          <a:prstGeom prst="rect">
            <a:avLst/>
          </a:prstGeom>
        </p:spPr>
      </p:pic>
      <p:sp>
        <p:nvSpPr>
          <p:cNvPr id="10" name="Text 6"/>
          <p:cNvSpPr/>
          <p:nvPr/>
        </p:nvSpPr>
        <p:spPr>
          <a:xfrm>
            <a:off x="4974167" y="1545961"/>
            <a:ext cx="725249"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33F"/>
                </a:solidFill>
                <a:latin typeface="IBM Plex Sans" pitchFamily="34" charset="0"/>
                <a:ea typeface="IBM Plex Sans" pitchFamily="34" charset="-122"/>
                <a:cs typeface="IBM Plex Sans" pitchFamily="34" charset="-120"/>
              </a:rPr>
              <a:t>Scout</a:t>
            </a:r>
            <a:endParaRPr lang="en-US" sz="1800" dirty="0"/>
          </a:p>
        </p:txBody>
      </p:sp>
      <p:sp>
        <p:nvSpPr>
          <p:cNvPr id="11" name="Text 7"/>
          <p:cNvSpPr/>
          <p:nvPr/>
        </p:nvSpPr>
        <p:spPr>
          <a:xfrm>
            <a:off x="4593167" y="1899047"/>
            <a:ext cx="3095837"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Scrapes the conference site live: speakers, sponsors, logo walls. Follows the 2026 list.</a:t>
            </a:r>
            <a:endParaRPr lang="en-US" sz="1300" dirty="0"/>
          </a:p>
        </p:txBody>
      </p:sp>
      <p:sp>
        <p:nvSpPr>
          <p:cNvPr id="12" name="Text 8"/>
          <p:cNvSpPr/>
          <p:nvPr/>
        </p:nvSpPr>
        <p:spPr>
          <a:xfrm>
            <a:off x="4593167" y="2643783"/>
            <a:ext cx="309583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4E16"/>
                </a:solidFill>
                <a:latin typeface="JetBrains Mono" pitchFamily="49" charset="0"/>
                <a:ea typeface="JetBrains Mono" pitchFamily="49" charset="-122"/>
                <a:cs typeface="JetBrains Mono" pitchFamily="49" charset="-120"/>
              </a:rPr>
              <a:t>Hands off to: Researcher; asks Analyst to triage</a:t>
            </a:r>
            <a:endParaRPr lang="en-US" sz="1200" dirty="0"/>
          </a:p>
        </p:txBody>
      </p:sp>
      <p:sp>
        <p:nvSpPr>
          <p:cNvPr id="13" name="Shape 9"/>
          <p:cNvSpPr/>
          <p:nvPr/>
        </p:nvSpPr>
        <p:spPr>
          <a:xfrm>
            <a:off x="7961842" y="1364589"/>
            <a:ext cx="3414183" cy="1854266"/>
          </a:xfrm>
          <a:prstGeom prst="roundRect">
            <a:avLst>
              <a:gd name="adj" fmla="val 5308"/>
            </a:avLst>
          </a:prstGeom>
          <a:solidFill>
            <a:srgbClr val="FDFCF9"/>
          </a:solidFill>
          <a:ln w="6350">
            <a:solidFill>
              <a:srgbClr val="E1DED6"/>
            </a:solidFill>
            <a:prstDash val="solid"/>
          </a:ln>
        </p:spPr>
      </p:sp>
      <p:pic>
        <p:nvPicPr>
          <p:cNvPr id="14" name="Image 2" descr="Globe">    </p:cNvPr>
          <p:cNvPicPr>
            <a:picLocks noChangeAspect="1"/>
          </p:cNvPicPr>
          <p:nvPr/>
        </p:nvPicPr>
        <p:blipFill>
          <a:blip r:embed="rId3"/>
          <a:srcRect l="0" r="0" t="0" b="0"/>
          <a:stretch/>
        </p:blipFill>
        <p:spPr>
          <a:xfrm>
            <a:off x="8166100" y="1543447"/>
            <a:ext cx="279400" cy="279400"/>
          </a:xfrm>
          <a:prstGeom prst="rect">
            <a:avLst/>
          </a:prstGeom>
        </p:spPr>
      </p:pic>
      <p:sp>
        <p:nvSpPr>
          <p:cNvPr id="15" name="Text 10"/>
          <p:cNvSpPr/>
          <p:nvPr/>
        </p:nvSpPr>
        <p:spPr>
          <a:xfrm>
            <a:off x="8547100" y="1545961"/>
            <a:ext cx="144375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33F"/>
                </a:solidFill>
                <a:latin typeface="IBM Plex Sans" pitchFamily="34" charset="0"/>
                <a:ea typeface="IBM Plex Sans" pitchFamily="34" charset="-122"/>
                <a:cs typeface="IBM Plex Sans" pitchFamily="34" charset="-120"/>
              </a:rPr>
              <a:t>Researcher</a:t>
            </a:r>
            <a:endParaRPr lang="en-US" sz="1800" dirty="0"/>
          </a:p>
        </p:txBody>
      </p:sp>
      <p:sp>
        <p:nvSpPr>
          <p:cNvPr id="16" name="Text 11"/>
          <p:cNvSpPr/>
          <p:nvPr/>
        </p:nvSpPr>
        <p:spPr>
          <a:xfrm>
            <a:off x="8166100" y="1899047"/>
            <a:ext cx="3095837"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One web search per company, facts with source URLs, answers colleagues' questions.</a:t>
            </a:r>
            <a:endParaRPr lang="en-US" sz="1300" dirty="0"/>
          </a:p>
        </p:txBody>
      </p:sp>
      <p:sp>
        <p:nvSpPr>
          <p:cNvPr id="17" name="Text 12"/>
          <p:cNvSpPr/>
          <p:nvPr/>
        </p:nvSpPr>
        <p:spPr>
          <a:xfrm>
            <a:off x="8166100" y="2643783"/>
            <a:ext cx="309583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4E16"/>
                </a:solidFill>
                <a:latin typeface="JetBrains Mono" pitchFamily="49" charset="0"/>
                <a:ea typeface="JetBrains Mono" pitchFamily="49" charset="-122"/>
                <a:cs typeface="JetBrains Mono" pitchFamily="49" charset="-120"/>
              </a:rPr>
              <a:t>Hands off to: Analyst</a:t>
            </a:r>
            <a:endParaRPr lang="en-US" sz="1200" dirty="0"/>
          </a:p>
        </p:txBody>
      </p:sp>
      <p:sp>
        <p:nvSpPr>
          <p:cNvPr id="18" name="Shape 13"/>
          <p:cNvSpPr/>
          <p:nvPr/>
        </p:nvSpPr>
        <p:spPr>
          <a:xfrm>
            <a:off x="815975" y="3377605"/>
            <a:ext cx="3414183" cy="1854266"/>
          </a:xfrm>
          <a:prstGeom prst="roundRect">
            <a:avLst>
              <a:gd name="adj" fmla="val 5308"/>
            </a:avLst>
          </a:prstGeom>
          <a:solidFill>
            <a:srgbClr val="FDFCF9"/>
          </a:solidFill>
          <a:ln w="6350">
            <a:solidFill>
              <a:srgbClr val="E1DED6"/>
            </a:solidFill>
            <a:prstDash val="solid"/>
          </a:ln>
        </p:spPr>
      </p:sp>
      <p:pic>
        <p:nvPicPr>
          <p:cNvPr id="19" name="Image 3" descr="Chart">    </p:cNvPr>
          <p:cNvPicPr>
            <a:picLocks noChangeAspect="1"/>
          </p:cNvPicPr>
          <p:nvPr/>
        </p:nvPicPr>
        <p:blipFill>
          <a:blip r:embed="rId4"/>
          <a:srcRect l="0" r="0" t="0" b="0"/>
          <a:stretch/>
        </p:blipFill>
        <p:spPr>
          <a:xfrm>
            <a:off x="1020233" y="3556464"/>
            <a:ext cx="279400" cy="279400"/>
          </a:xfrm>
          <a:prstGeom prst="rect">
            <a:avLst/>
          </a:prstGeom>
        </p:spPr>
      </p:pic>
      <p:sp>
        <p:nvSpPr>
          <p:cNvPr id="20" name="Text 14"/>
          <p:cNvSpPr/>
          <p:nvPr/>
        </p:nvSpPr>
        <p:spPr>
          <a:xfrm>
            <a:off x="1401233" y="3558977"/>
            <a:ext cx="95678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33F"/>
                </a:solidFill>
                <a:latin typeface="IBM Plex Sans" pitchFamily="34" charset="0"/>
                <a:ea typeface="IBM Plex Sans" pitchFamily="34" charset="-122"/>
                <a:cs typeface="IBM Plex Sans" pitchFamily="34" charset="-120"/>
              </a:rPr>
              <a:t>Analyst</a:t>
            </a:r>
            <a:endParaRPr lang="en-US" sz="1800" dirty="0"/>
          </a:p>
        </p:txBody>
      </p:sp>
      <p:sp>
        <p:nvSpPr>
          <p:cNvPr id="21" name="Text 15"/>
          <p:cNvSpPr/>
          <p:nvPr/>
        </p:nvSpPr>
        <p:spPr>
          <a:xfrm>
            <a:off x="1020233" y="3912064"/>
            <a:ext cx="3095837"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Sets non-buyers aside, then scores 5 dimensions with a reason each; asks when evidence is thin.</a:t>
            </a:r>
            <a:endParaRPr lang="en-US" sz="1300" dirty="0"/>
          </a:p>
        </p:txBody>
      </p:sp>
      <p:sp>
        <p:nvSpPr>
          <p:cNvPr id="22" name="Text 16"/>
          <p:cNvSpPr/>
          <p:nvPr/>
        </p:nvSpPr>
        <p:spPr>
          <a:xfrm>
            <a:off x="1020233" y="4656799"/>
            <a:ext cx="309583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4E16"/>
                </a:solidFill>
                <a:latin typeface="JetBrains Mono" pitchFamily="49" charset="0"/>
                <a:ea typeface="JetBrains Mono" pitchFamily="49" charset="-122"/>
                <a:cs typeface="JetBrains Mono" pitchFamily="49" charset="-120"/>
              </a:rPr>
              <a:t>Hands off to: Strategist (A/B) or Coordinator</a:t>
            </a:r>
            <a:endParaRPr lang="en-US" sz="1200" dirty="0"/>
          </a:p>
        </p:txBody>
      </p:sp>
      <p:sp>
        <p:nvSpPr>
          <p:cNvPr id="23" name="Shape 17"/>
          <p:cNvSpPr/>
          <p:nvPr/>
        </p:nvSpPr>
        <p:spPr>
          <a:xfrm>
            <a:off x="4388908" y="3377605"/>
            <a:ext cx="3414183" cy="1854266"/>
          </a:xfrm>
          <a:prstGeom prst="roundRect">
            <a:avLst>
              <a:gd name="adj" fmla="val 5308"/>
            </a:avLst>
          </a:prstGeom>
          <a:solidFill>
            <a:srgbClr val="FDFCF9"/>
          </a:solidFill>
          <a:ln w="6350">
            <a:solidFill>
              <a:srgbClr val="E1DED6"/>
            </a:solidFill>
            <a:prstDash val="solid"/>
          </a:ln>
        </p:spPr>
      </p:sp>
      <p:pic>
        <p:nvPicPr>
          <p:cNvPr id="24" name="Image 4" descr="Lightbulb">    </p:cNvPr>
          <p:cNvPicPr>
            <a:picLocks noChangeAspect="1"/>
          </p:cNvPicPr>
          <p:nvPr/>
        </p:nvPicPr>
        <p:blipFill>
          <a:blip r:embed="rId5"/>
          <a:srcRect l="0" r="0" t="0" b="0"/>
          <a:stretch/>
        </p:blipFill>
        <p:spPr>
          <a:xfrm>
            <a:off x="4593167" y="3556464"/>
            <a:ext cx="279400" cy="279400"/>
          </a:xfrm>
          <a:prstGeom prst="rect">
            <a:avLst/>
          </a:prstGeom>
        </p:spPr>
      </p:pic>
      <p:sp>
        <p:nvSpPr>
          <p:cNvPr id="25" name="Text 18"/>
          <p:cNvSpPr/>
          <p:nvPr/>
        </p:nvSpPr>
        <p:spPr>
          <a:xfrm>
            <a:off x="4974167" y="3558977"/>
            <a:ext cx="124309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33F"/>
                </a:solidFill>
                <a:latin typeface="IBM Plex Sans" pitchFamily="34" charset="0"/>
                <a:ea typeface="IBM Plex Sans" pitchFamily="34" charset="-122"/>
                <a:cs typeface="IBM Plex Sans" pitchFamily="34" charset="-120"/>
              </a:rPr>
              <a:t>Strategist</a:t>
            </a:r>
            <a:endParaRPr lang="en-US" sz="1800" dirty="0"/>
          </a:p>
        </p:txBody>
      </p:sp>
      <p:sp>
        <p:nvSpPr>
          <p:cNvPr id="26" name="Text 19"/>
          <p:cNvSpPr/>
          <p:nvPr/>
        </p:nvSpPr>
        <p:spPr>
          <a:xfrm>
            <a:off x="4593167" y="3912064"/>
            <a:ext cx="3095837"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For A/B accounts: what to lead with, the pain, why now, and draft openers per contact.</a:t>
            </a:r>
            <a:endParaRPr lang="en-US" sz="1300" dirty="0"/>
          </a:p>
        </p:txBody>
      </p:sp>
      <p:sp>
        <p:nvSpPr>
          <p:cNvPr id="27" name="Text 20"/>
          <p:cNvSpPr/>
          <p:nvPr/>
        </p:nvSpPr>
        <p:spPr>
          <a:xfrm>
            <a:off x="4593167" y="4656799"/>
            <a:ext cx="309583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4E16"/>
                </a:solidFill>
                <a:latin typeface="JetBrains Mono" pitchFamily="49" charset="0"/>
                <a:ea typeface="JetBrains Mono" pitchFamily="49" charset="-122"/>
                <a:cs typeface="JetBrains Mono" pitchFamily="49" charset="-120"/>
              </a:rPr>
              <a:t>Hands off to: Coordinator; can challenge Analyst</a:t>
            </a:r>
            <a:endParaRPr lang="en-US" sz="1200" dirty="0"/>
          </a:p>
        </p:txBody>
      </p:sp>
      <p:sp>
        <p:nvSpPr>
          <p:cNvPr id="28" name="Shape 21"/>
          <p:cNvSpPr/>
          <p:nvPr/>
        </p:nvSpPr>
        <p:spPr>
          <a:xfrm>
            <a:off x="7961842" y="3377605"/>
            <a:ext cx="3414183" cy="1854266"/>
          </a:xfrm>
          <a:prstGeom prst="roundRect">
            <a:avLst>
              <a:gd name="adj" fmla="val 5308"/>
            </a:avLst>
          </a:prstGeom>
          <a:solidFill>
            <a:srgbClr val="FDFCF9"/>
          </a:solidFill>
          <a:ln w="6350">
            <a:solidFill>
              <a:srgbClr val="E1DED6"/>
            </a:solidFill>
            <a:prstDash val="solid"/>
          </a:ln>
        </p:spPr>
      </p:sp>
      <p:pic>
        <p:nvPicPr>
          <p:cNvPr id="29" name="Image 5" descr="Book">    </p:cNvPr>
          <p:cNvPicPr>
            <a:picLocks noChangeAspect="1"/>
          </p:cNvPicPr>
          <p:nvPr/>
        </p:nvPicPr>
        <p:blipFill>
          <a:blip r:embed="rId6"/>
          <a:srcRect l="0" r="0" t="0" b="0"/>
          <a:stretch/>
        </p:blipFill>
        <p:spPr>
          <a:xfrm>
            <a:off x="8166100" y="3556464"/>
            <a:ext cx="279400" cy="279400"/>
          </a:xfrm>
          <a:prstGeom prst="rect">
            <a:avLst/>
          </a:prstGeom>
        </p:spPr>
      </p:pic>
      <p:sp>
        <p:nvSpPr>
          <p:cNvPr id="30" name="Text 22"/>
          <p:cNvSpPr/>
          <p:nvPr/>
        </p:nvSpPr>
        <p:spPr>
          <a:xfrm>
            <a:off x="8547100" y="3558977"/>
            <a:ext cx="1121489"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33F"/>
                </a:solidFill>
                <a:latin typeface="IBM Plex Sans" pitchFamily="34" charset="0"/>
                <a:ea typeface="IBM Plex Sans" pitchFamily="34" charset="-122"/>
                <a:cs typeface="IBM Plex Sans" pitchFamily="34" charset="-120"/>
              </a:rPr>
              <a:t>Reporter</a:t>
            </a:r>
            <a:endParaRPr lang="en-US" sz="1800" dirty="0"/>
          </a:p>
        </p:txBody>
      </p:sp>
      <p:sp>
        <p:nvSpPr>
          <p:cNvPr id="31" name="Text 23"/>
          <p:cNvSpPr/>
          <p:nvPr/>
        </p:nvSpPr>
        <p:spPr>
          <a:xfrm>
            <a:off x="8166100" y="3912064"/>
            <a:ext cx="309583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Writes the Excel workbook, the full agent conversation and JSON for a CRM.</a:t>
            </a:r>
            <a:endParaRPr lang="en-US" sz="1300" dirty="0"/>
          </a:p>
        </p:txBody>
      </p:sp>
      <p:sp>
        <p:nvSpPr>
          <p:cNvPr id="32" name="Text 24"/>
          <p:cNvSpPr/>
          <p:nvPr/>
        </p:nvSpPr>
        <p:spPr>
          <a:xfrm>
            <a:off x="8166100" y="4433954"/>
            <a:ext cx="309583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4E16"/>
                </a:solidFill>
                <a:latin typeface="JetBrains Mono" pitchFamily="49" charset="0"/>
                <a:ea typeface="JetBrains Mono" pitchFamily="49" charset="-122"/>
                <a:cs typeface="JetBrains Mono" pitchFamily="49" charset="-120"/>
              </a:rPr>
              <a:t>Answers: Coordinator</a:t>
            </a:r>
            <a:endParaRPr lang="en-US" sz="1200" dirty="0"/>
          </a:p>
        </p:txBody>
      </p:sp>
      <p:sp>
        <p:nvSpPr>
          <p:cNvPr id="33" name="Text 25"/>
          <p:cNvSpPr/>
          <p:nvPr/>
        </p:nvSpPr>
        <p:spPr>
          <a:xfrm>
            <a:off x="812800" y="5438246"/>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Shared by all: a message bus (inform · request · reply · handoff · challenge), one thread per account, the model pool and live web tools.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F"/>
                </a:solidFill>
                <a:latin typeface="IBM Plex Sans" pitchFamily="34" charset="0"/>
                <a:ea typeface="IBM Plex Sans" pitchFamily="34" charset="-122"/>
                <a:cs typeface="IBM Plex Sans" pitchFamily="34" charset="-120"/>
              </a:rPr>
              <a:t>The architecture in five layers</a:t>
            </a:r>
            <a:endParaRPr lang="en-US" sz="3200" dirty="0"/>
          </a:p>
        </p:txBody>
      </p:sp>
      <p:sp>
        <p:nvSpPr>
          <p:cNvPr id="3" name="Text 1"/>
          <p:cNvSpPr/>
          <p:nvPr/>
        </p:nvSpPr>
        <p:spPr>
          <a:xfrm>
            <a:off x="812800" y="1285215"/>
            <a:ext cx="113792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Agents never call a model or a website directly: the runtime routes their messages, the pool picks a model, the tools fetch live data.</a:t>
            </a:r>
            <a:endParaRPr lang="en-US" sz="1400" dirty="0"/>
          </a:p>
        </p:txBody>
      </p:sp>
      <p:sp>
        <p:nvSpPr>
          <p:cNvPr id="4" name="Shape 2"/>
          <p:cNvSpPr/>
          <p:nvPr/>
        </p:nvSpPr>
        <p:spPr>
          <a:xfrm>
            <a:off x="815975" y="1664295"/>
            <a:ext cx="10560050" cy="571037"/>
          </a:xfrm>
          <a:prstGeom prst="roundRect">
            <a:avLst>
              <a:gd name="adj" fmla="val 15012"/>
            </a:avLst>
          </a:prstGeom>
          <a:solidFill>
            <a:srgbClr val="FFFFFF"/>
          </a:solidFill>
          <a:ln w="6350">
            <a:solidFill>
              <a:srgbClr val="E1DED6"/>
            </a:solidFill>
            <a:prstDash val="solid"/>
          </a:ln>
        </p:spPr>
      </p:sp>
      <p:sp>
        <p:nvSpPr>
          <p:cNvPr id="5" name="Text 3"/>
          <p:cNvSpPr/>
          <p:nvPr/>
        </p:nvSpPr>
        <p:spPr>
          <a:xfrm>
            <a:off x="994833" y="1835482"/>
            <a:ext cx="1574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F"/>
                </a:solidFill>
                <a:latin typeface="IBM Plex Sans" pitchFamily="34" charset="0"/>
                <a:ea typeface="IBM Plex Sans" pitchFamily="34" charset="-122"/>
                <a:cs typeface="IBM Plex Sans" pitchFamily="34" charset="-120"/>
              </a:rPr>
              <a:t>Inputs, live</a:t>
            </a:r>
            <a:endParaRPr lang="en-US" sz="1500" dirty="0"/>
          </a:p>
        </p:txBody>
      </p:sp>
      <p:sp>
        <p:nvSpPr>
          <p:cNvPr id="6" name="Text 4"/>
          <p:cNvSpPr/>
          <p:nvPr/>
        </p:nvSpPr>
        <p:spPr>
          <a:xfrm>
            <a:off x="2671233" y="1792354"/>
            <a:ext cx="3031530" cy="314920"/>
          </a:xfrm>
          <a:prstGeom prst="roundRect">
            <a:avLst>
              <a:gd name="adj" fmla="val 50000"/>
            </a:avLst>
          </a:prstGeom>
          <a:solidFill>
            <a:srgbClr val="EEF1F5"/>
          </a:solidFill>
          <a:ln/>
        </p:spPr>
        <p:txBody>
          <a:bodyPr wrap="none" lIns="0" tIns="0" rIns="0" bIns="0" rtlCol="0" anchor="ctr">
            <a:normAutofit/>
          </a:bodyPr>
          <a:lstStyle/>
          <a:p>
            <a:pPr algn="ctr" indent="0" marL="0">
              <a:lnSpc>
                <a:spcPts val="1680"/>
              </a:lnSpc>
              <a:buNone/>
            </a:pPr>
            <a:r>
              <a:rPr lang="en-US" sz="1200" dirty="0">
                <a:solidFill>
                  <a:srgbClr val="13233F"/>
                </a:solidFill>
                <a:latin typeface="IBM Plex Sans" pitchFamily="34" charset="0"/>
                <a:ea typeface="IBM Plex Sans" pitchFamily="34" charset="-122"/>
                <a:cs typeface="IBM Plex Sans" pitchFamily="34" charset="-120"/>
              </a:rPr>
              <a:t>Conference site (httpx; browser fallback)</a:t>
            </a:r>
            <a:endParaRPr lang="en-US" sz="1200" dirty="0"/>
          </a:p>
        </p:txBody>
      </p:sp>
      <p:sp>
        <p:nvSpPr>
          <p:cNvPr id="7" name="Text 5"/>
          <p:cNvSpPr/>
          <p:nvPr/>
        </p:nvSpPr>
        <p:spPr>
          <a:xfrm>
            <a:off x="5778963" y="1792354"/>
            <a:ext cx="2189361" cy="314920"/>
          </a:xfrm>
          <a:prstGeom prst="roundRect">
            <a:avLst>
              <a:gd name="adj" fmla="val 50000"/>
            </a:avLst>
          </a:prstGeom>
          <a:solidFill>
            <a:srgbClr val="EEF1F5"/>
          </a:solidFill>
          <a:ln/>
        </p:spPr>
        <p:txBody>
          <a:bodyPr wrap="none" lIns="0" tIns="0" rIns="0" bIns="0" rtlCol="0" anchor="ctr">
            <a:normAutofit/>
          </a:bodyPr>
          <a:lstStyle/>
          <a:p>
            <a:pPr algn="ctr" indent="0" marL="0">
              <a:lnSpc>
                <a:spcPts val="1680"/>
              </a:lnSpc>
              <a:buNone/>
            </a:pPr>
            <a:r>
              <a:rPr lang="en-US" sz="1200" dirty="0">
                <a:solidFill>
                  <a:srgbClr val="13233F"/>
                </a:solidFill>
                <a:latin typeface="IBM Plex Sans" pitchFamily="34" charset="0"/>
                <a:ea typeface="IBM Plex Sans" pitchFamily="34" charset="-122"/>
                <a:cs typeface="IBM Plex Sans" pitchFamily="34" charset="-120"/>
              </a:rPr>
              <a:t>Vendor profile or vendor site</a:t>
            </a:r>
            <a:endParaRPr lang="en-US" sz="1200" dirty="0"/>
          </a:p>
        </p:txBody>
      </p:sp>
      <p:sp>
        <p:nvSpPr>
          <p:cNvPr id="8" name="Text 6"/>
          <p:cNvSpPr/>
          <p:nvPr/>
        </p:nvSpPr>
        <p:spPr>
          <a:xfrm>
            <a:off x="8044524" y="1792354"/>
            <a:ext cx="1854531" cy="314920"/>
          </a:xfrm>
          <a:prstGeom prst="roundRect">
            <a:avLst>
              <a:gd name="adj" fmla="val 50000"/>
            </a:avLst>
          </a:prstGeom>
          <a:solidFill>
            <a:srgbClr val="EEF1F5"/>
          </a:solidFill>
          <a:ln/>
        </p:spPr>
        <p:txBody>
          <a:bodyPr wrap="none" lIns="0" tIns="0" rIns="0" bIns="0" rtlCol="0" anchor="ctr">
            <a:normAutofit/>
          </a:bodyPr>
          <a:lstStyle/>
          <a:p>
            <a:pPr algn="ctr" indent="0" marL="0">
              <a:lnSpc>
                <a:spcPts val="1680"/>
              </a:lnSpc>
              <a:buNone/>
            </a:pPr>
            <a:r>
              <a:rPr lang="en-US" sz="1200" dirty="0">
                <a:solidFill>
                  <a:srgbClr val="13233F"/>
                </a:solidFill>
                <a:latin typeface="IBM Plex Sans" pitchFamily="34" charset="0"/>
                <a:ea typeface="IBM Plex Sans" pitchFamily="34" charset="-122"/>
                <a:cs typeface="IBM Plex Sans" pitchFamily="34" charset="-120"/>
              </a:rPr>
              <a:t>Web search, 3 at a time</a:t>
            </a:r>
            <a:endParaRPr lang="en-US" sz="1200" dirty="0"/>
          </a:p>
        </p:txBody>
      </p:sp>
      <p:sp>
        <p:nvSpPr>
          <p:cNvPr id="9" name="Shape 7"/>
          <p:cNvSpPr/>
          <p:nvPr/>
        </p:nvSpPr>
        <p:spPr>
          <a:xfrm>
            <a:off x="812800" y="2365508"/>
            <a:ext cx="10566400" cy="568920"/>
          </a:xfrm>
          <a:prstGeom prst="roundRect">
            <a:avLst>
              <a:gd name="adj" fmla="val 15626"/>
            </a:avLst>
          </a:prstGeom>
          <a:solidFill>
            <a:srgbClr val="13233F"/>
          </a:solidFill>
          <a:ln/>
        </p:spPr>
      </p:sp>
      <p:sp>
        <p:nvSpPr>
          <p:cNvPr id="10" name="Text 8"/>
          <p:cNvSpPr/>
          <p:nvPr/>
        </p:nvSpPr>
        <p:spPr>
          <a:xfrm>
            <a:off x="990600" y="2535634"/>
            <a:ext cx="1574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5F0"/>
                </a:solidFill>
                <a:latin typeface="IBM Plex Sans" pitchFamily="34" charset="0"/>
                <a:ea typeface="IBM Plex Sans" pitchFamily="34" charset="-122"/>
                <a:cs typeface="IBM Plex Sans" pitchFamily="34" charset="-120"/>
              </a:rPr>
              <a:t>Agents</a:t>
            </a:r>
            <a:endParaRPr lang="en-US" sz="1500" dirty="0"/>
          </a:p>
        </p:txBody>
      </p:sp>
      <p:sp>
        <p:nvSpPr>
          <p:cNvPr id="11" name="Text 9"/>
          <p:cNvSpPr/>
          <p:nvPr/>
        </p:nvSpPr>
        <p:spPr>
          <a:xfrm>
            <a:off x="2667000" y="2492508"/>
            <a:ext cx="1062964" cy="314920"/>
          </a:xfrm>
          <a:prstGeom prst="roundRect">
            <a:avLst>
              <a:gd name="adj" fmla="val 50000"/>
            </a:avLst>
          </a:prstGeom>
          <a:solidFill>
            <a:srgbClr val="2C4166"/>
          </a:solidFill>
          <a:ln/>
        </p:spPr>
        <p:txBody>
          <a:bodyPr wrap="none" lIns="0" tIns="0" rIns="0" bIns="0" rtlCol="0" anchor="ctr">
            <a:normAutofit/>
          </a:bodyPr>
          <a:lstStyle/>
          <a:p>
            <a:pPr algn="ctr" indent="0" marL="0">
              <a:lnSpc>
                <a:spcPts val="1680"/>
              </a:lnSpc>
              <a:buNone/>
            </a:pPr>
            <a:r>
              <a:rPr lang="en-US" sz="1200" dirty="0">
                <a:solidFill>
                  <a:srgbClr val="F6F5F0"/>
                </a:solidFill>
                <a:latin typeface="IBM Plex Sans" pitchFamily="34" charset="0"/>
                <a:ea typeface="IBM Plex Sans" pitchFamily="34" charset="-122"/>
                <a:cs typeface="IBM Plex Sans" pitchFamily="34" charset="-120"/>
              </a:rPr>
              <a:t>Coordinator</a:t>
            </a:r>
            <a:endParaRPr lang="en-US" sz="1200" dirty="0"/>
          </a:p>
        </p:txBody>
      </p:sp>
      <p:sp>
        <p:nvSpPr>
          <p:cNvPr id="12" name="Text 10"/>
          <p:cNvSpPr/>
          <p:nvPr/>
        </p:nvSpPr>
        <p:spPr>
          <a:xfrm>
            <a:off x="3806164" y="2492508"/>
            <a:ext cx="643731" cy="314920"/>
          </a:xfrm>
          <a:prstGeom prst="roundRect">
            <a:avLst>
              <a:gd name="adj" fmla="val 50000"/>
            </a:avLst>
          </a:prstGeom>
          <a:solidFill>
            <a:srgbClr val="2C4166"/>
          </a:solidFill>
          <a:ln/>
        </p:spPr>
        <p:txBody>
          <a:bodyPr wrap="none" lIns="0" tIns="0" rIns="0" bIns="0" rtlCol="0" anchor="ctr">
            <a:normAutofit/>
          </a:bodyPr>
          <a:lstStyle/>
          <a:p>
            <a:pPr algn="ctr" indent="0" marL="0">
              <a:lnSpc>
                <a:spcPts val="1680"/>
              </a:lnSpc>
              <a:buNone/>
            </a:pPr>
            <a:r>
              <a:rPr lang="en-US" sz="1200" dirty="0">
                <a:solidFill>
                  <a:srgbClr val="F6F5F0"/>
                </a:solidFill>
                <a:latin typeface="IBM Plex Sans" pitchFamily="34" charset="0"/>
                <a:ea typeface="IBM Plex Sans" pitchFamily="34" charset="-122"/>
                <a:cs typeface="IBM Plex Sans" pitchFamily="34" charset="-120"/>
              </a:rPr>
              <a:t>Scout</a:t>
            </a:r>
            <a:endParaRPr lang="en-US" sz="1200" dirty="0"/>
          </a:p>
        </p:txBody>
      </p:sp>
      <p:sp>
        <p:nvSpPr>
          <p:cNvPr id="13" name="Text 11"/>
          <p:cNvSpPr/>
          <p:nvPr/>
        </p:nvSpPr>
        <p:spPr>
          <a:xfrm>
            <a:off x="4526095" y="2492508"/>
            <a:ext cx="1030221" cy="314920"/>
          </a:xfrm>
          <a:prstGeom prst="roundRect">
            <a:avLst>
              <a:gd name="adj" fmla="val 50000"/>
            </a:avLst>
          </a:prstGeom>
          <a:solidFill>
            <a:srgbClr val="2C4166"/>
          </a:solidFill>
          <a:ln/>
        </p:spPr>
        <p:txBody>
          <a:bodyPr wrap="none" lIns="0" tIns="0" rIns="0" bIns="0" rtlCol="0" anchor="ctr">
            <a:normAutofit/>
          </a:bodyPr>
          <a:lstStyle/>
          <a:p>
            <a:pPr algn="ctr" indent="0" marL="0">
              <a:lnSpc>
                <a:spcPts val="1680"/>
              </a:lnSpc>
              <a:buNone/>
            </a:pPr>
            <a:r>
              <a:rPr lang="en-US" sz="1200" dirty="0">
                <a:solidFill>
                  <a:srgbClr val="F6F5F0"/>
                </a:solidFill>
                <a:latin typeface="IBM Plex Sans" pitchFamily="34" charset="0"/>
                <a:ea typeface="IBM Plex Sans" pitchFamily="34" charset="-122"/>
                <a:cs typeface="IBM Plex Sans" pitchFamily="34" charset="-120"/>
              </a:rPr>
              <a:t>Researcher</a:t>
            </a:r>
            <a:endParaRPr lang="en-US" sz="1200" dirty="0"/>
          </a:p>
        </p:txBody>
      </p:sp>
      <p:sp>
        <p:nvSpPr>
          <p:cNvPr id="14" name="Text 12"/>
          <p:cNvSpPr/>
          <p:nvPr/>
        </p:nvSpPr>
        <p:spPr>
          <a:xfrm>
            <a:off x="5632516" y="2492508"/>
            <a:ext cx="761669" cy="314920"/>
          </a:xfrm>
          <a:prstGeom prst="roundRect">
            <a:avLst>
              <a:gd name="adj" fmla="val 50000"/>
            </a:avLst>
          </a:prstGeom>
          <a:solidFill>
            <a:srgbClr val="2C4166"/>
          </a:solidFill>
          <a:ln/>
        </p:spPr>
        <p:txBody>
          <a:bodyPr wrap="none" lIns="0" tIns="0" rIns="0" bIns="0" rtlCol="0" anchor="ctr">
            <a:normAutofit/>
          </a:bodyPr>
          <a:lstStyle/>
          <a:p>
            <a:pPr algn="ctr" indent="0" marL="0">
              <a:lnSpc>
                <a:spcPts val="1680"/>
              </a:lnSpc>
              <a:buNone/>
            </a:pPr>
            <a:r>
              <a:rPr lang="en-US" sz="1200" dirty="0">
                <a:solidFill>
                  <a:srgbClr val="F6F5F0"/>
                </a:solidFill>
                <a:latin typeface="IBM Plex Sans" pitchFamily="34" charset="0"/>
                <a:ea typeface="IBM Plex Sans" pitchFamily="34" charset="-122"/>
                <a:cs typeface="IBM Plex Sans" pitchFamily="34" charset="-120"/>
              </a:rPr>
              <a:t>Analyst</a:t>
            </a:r>
            <a:endParaRPr lang="en-US" sz="1200" dirty="0"/>
          </a:p>
        </p:txBody>
      </p:sp>
      <p:sp>
        <p:nvSpPr>
          <p:cNvPr id="15" name="Text 13"/>
          <p:cNvSpPr/>
          <p:nvPr/>
        </p:nvSpPr>
        <p:spPr>
          <a:xfrm>
            <a:off x="6470386" y="2492508"/>
            <a:ext cx="914532" cy="314920"/>
          </a:xfrm>
          <a:prstGeom prst="roundRect">
            <a:avLst>
              <a:gd name="adj" fmla="val 50000"/>
            </a:avLst>
          </a:prstGeom>
          <a:solidFill>
            <a:srgbClr val="2C4166"/>
          </a:solidFill>
          <a:ln/>
        </p:spPr>
        <p:txBody>
          <a:bodyPr wrap="none" lIns="0" tIns="0" rIns="0" bIns="0" rtlCol="0" anchor="ctr">
            <a:normAutofit/>
          </a:bodyPr>
          <a:lstStyle/>
          <a:p>
            <a:pPr algn="ctr" indent="0" marL="0">
              <a:lnSpc>
                <a:spcPts val="1680"/>
              </a:lnSpc>
              <a:buNone/>
            </a:pPr>
            <a:r>
              <a:rPr lang="en-US" sz="1200" dirty="0">
                <a:solidFill>
                  <a:srgbClr val="F6F5F0"/>
                </a:solidFill>
                <a:latin typeface="IBM Plex Sans" pitchFamily="34" charset="0"/>
                <a:ea typeface="IBM Plex Sans" pitchFamily="34" charset="-122"/>
                <a:cs typeface="IBM Plex Sans" pitchFamily="34" charset="-120"/>
              </a:rPr>
              <a:t>Strategist</a:t>
            </a:r>
            <a:endParaRPr lang="en-US" sz="1200" dirty="0"/>
          </a:p>
        </p:txBody>
      </p:sp>
      <p:sp>
        <p:nvSpPr>
          <p:cNvPr id="16" name="Text 14"/>
          <p:cNvSpPr/>
          <p:nvPr/>
        </p:nvSpPr>
        <p:spPr>
          <a:xfrm>
            <a:off x="7461118" y="2492508"/>
            <a:ext cx="855729" cy="314920"/>
          </a:xfrm>
          <a:prstGeom prst="roundRect">
            <a:avLst>
              <a:gd name="adj" fmla="val 50000"/>
            </a:avLst>
          </a:prstGeom>
          <a:solidFill>
            <a:srgbClr val="2C4166"/>
          </a:solidFill>
          <a:ln/>
        </p:spPr>
        <p:txBody>
          <a:bodyPr wrap="none" lIns="0" tIns="0" rIns="0" bIns="0" rtlCol="0" anchor="ctr">
            <a:normAutofit/>
          </a:bodyPr>
          <a:lstStyle/>
          <a:p>
            <a:pPr algn="ctr" indent="0" marL="0">
              <a:lnSpc>
                <a:spcPts val="1680"/>
              </a:lnSpc>
              <a:buNone/>
            </a:pPr>
            <a:r>
              <a:rPr lang="en-US" sz="1200" dirty="0">
                <a:solidFill>
                  <a:srgbClr val="F6F5F0"/>
                </a:solidFill>
                <a:latin typeface="IBM Plex Sans" pitchFamily="34" charset="0"/>
                <a:ea typeface="IBM Plex Sans" pitchFamily="34" charset="-122"/>
                <a:cs typeface="IBM Plex Sans" pitchFamily="34" charset="-120"/>
              </a:rPr>
              <a:t>Reporter</a:t>
            </a:r>
            <a:endParaRPr lang="en-US" sz="1200" dirty="0"/>
          </a:p>
        </p:txBody>
      </p:sp>
      <p:sp>
        <p:nvSpPr>
          <p:cNvPr id="17" name="Shape 15"/>
          <p:cNvSpPr/>
          <p:nvPr/>
        </p:nvSpPr>
        <p:spPr>
          <a:xfrm>
            <a:off x="815975" y="3064604"/>
            <a:ext cx="10560050" cy="962157"/>
          </a:xfrm>
          <a:prstGeom prst="roundRect">
            <a:avLst>
              <a:gd name="adj" fmla="val 8910"/>
            </a:avLst>
          </a:prstGeom>
          <a:solidFill>
            <a:srgbClr val="FFFFFF"/>
          </a:solidFill>
          <a:ln w="6350">
            <a:solidFill>
              <a:srgbClr val="E1DED6"/>
            </a:solidFill>
            <a:prstDash val="solid"/>
          </a:ln>
        </p:spPr>
      </p:sp>
      <p:sp>
        <p:nvSpPr>
          <p:cNvPr id="18" name="Text 16"/>
          <p:cNvSpPr/>
          <p:nvPr/>
        </p:nvSpPr>
        <p:spPr>
          <a:xfrm>
            <a:off x="994833" y="3431381"/>
            <a:ext cx="1574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F"/>
                </a:solidFill>
                <a:latin typeface="IBM Plex Sans" pitchFamily="34" charset="0"/>
                <a:ea typeface="IBM Plex Sans" pitchFamily="34" charset="-122"/>
                <a:cs typeface="IBM Plex Sans" pitchFamily="34" charset="-120"/>
              </a:rPr>
              <a:t>Runtime</a:t>
            </a:r>
            <a:endParaRPr lang="en-US" sz="1500" dirty="0"/>
          </a:p>
        </p:txBody>
      </p:sp>
      <p:sp>
        <p:nvSpPr>
          <p:cNvPr id="19" name="Text 17"/>
          <p:cNvSpPr/>
          <p:nvPr/>
        </p:nvSpPr>
        <p:spPr>
          <a:xfrm>
            <a:off x="2671233" y="3192661"/>
            <a:ext cx="2129036" cy="314920"/>
          </a:xfrm>
          <a:prstGeom prst="roundRect">
            <a:avLst>
              <a:gd name="adj" fmla="val 50000"/>
            </a:avLst>
          </a:prstGeom>
          <a:solidFill>
            <a:srgbClr val="EEF1F5"/>
          </a:solidFill>
          <a:ln/>
        </p:spPr>
        <p:txBody>
          <a:bodyPr wrap="none" lIns="0" tIns="0" rIns="0" bIns="0" rtlCol="0" anchor="ctr">
            <a:normAutofit/>
          </a:bodyPr>
          <a:lstStyle/>
          <a:p>
            <a:pPr algn="ctr" indent="0" marL="0">
              <a:lnSpc>
                <a:spcPts val="1680"/>
              </a:lnSpc>
              <a:buNone/>
            </a:pPr>
            <a:r>
              <a:rPr lang="en-US" sz="1200" dirty="0">
                <a:solidFill>
                  <a:srgbClr val="13233F"/>
                </a:solidFill>
                <a:latin typeface="IBM Plex Sans" pitchFamily="34" charset="0"/>
                <a:ea typeface="IBM Plex Sans" pitchFamily="34" charset="-122"/>
                <a:cs typeface="IBM Plex Sans" pitchFamily="34" charset="-120"/>
              </a:rPr>
              <a:t>asyncio actors with inboxes</a:t>
            </a:r>
            <a:endParaRPr lang="en-US" sz="1200" dirty="0"/>
          </a:p>
        </p:txBody>
      </p:sp>
      <p:sp>
        <p:nvSpPr>
          <p:cNvPr id="20" name="Text 18"/>
          <p:cNvSpPr/>
          <p:nvPr/>
        </p:nvSpPr>
        <p:spPr>
          <a:xfrm>
            <a:off x="4876469" y="3192661"/>
            <a:ext cx="2336734" cy="314920"/>
          </a:xfrm>
          <a:prstGeom prst="roundRect">
            <a:avLst>
              <a:gd name="adj" fmla="val 50000"/>
            </a:avLst>
          </a:prstGeom>
          <a:solidFill>
            <a:srgbClr val="EEF1F5"/>
          </a:solidFill>
          <a:ln/>
        </p:spPr>
        <p:txBody>
          <a:bodyPr wrap="none" lIns="0" tIns="0" rIns="0" bIns="0" rtlCol="0" anchor="ctr">
            <a:normAutofit/>
          </a:bodyPr>
          <a:lstStyle/>
          <a:p>
            <a:pPr algn="ctr" indent="0" marL="0">
              <a:lnSpc>
                <a:spcPts val="1680"/>
              </a:lnSpc>
              <a:buNone/>
            </a:pPr>
            <a:r>
              <a:rPr lang="en-US" sz="1200" dirty="0">
                <a:solidFill>
                  <a:srgbClr val="13233F"/>
                </a:solidFill>
                <a:latin typeface="IBM Plex Sans" pitchFamily="34" charset="0"/>
                <a:ea typeface="IBM Plex Sans" pitchFamily="34" charset="-122"/>
                <a:cs typeface="IBM Plex Sans" pitchFamily="34" charset="-120"/>
              </a:rPr>
              <a:t>ask() = request + wait for reply</a:t>
            </a:r>
            <a:endParaRPr lang="en-US" sz="1200" dirty="0"/>
          </a:p>
        </p:txBody>
      </p:sp>
      <p:sp>
        <p:nvSpPr>
          <p:cNvPr id="21" name="Text 19"/>
          <p:cNvSpPr/>
          <p:nvPr/>
        </p:nvSpPr>
        <p:spPr>
          <a:xfrm>
            <a:off x="7289403" y="3192661"/>
            <a:ext cx="1838987" cy="314920"/>
          </a:xfrm>
          <a:prstGeom prst="roundRect">
            <a:avLst>
              <a:gd name="adj" fmla="val 50000"/>
            </a:avLst>
          </a:prstGeom>
          <a:solidFill>
            <a:srgbClr val="EEF1F5"/>
          </a:solidFill>
          <a:ln/>
        </p:spPr>
        <p:txBody>
          <a:bodyPr wrap="none" lIns="0" tIns="0" rIns="0" bIns="0" rtlCol="0" anchor="ctr">
            <a:normAutofit/>
          </a:bodyPr>
          <a:lstStyle/>
          <a:p>
            <a:pPr algn="ctr" indent="0" marL="0">
              <a:lnSpc>
                <a:spcPts val="1680"/>
              </a:lnSpc>
              <a:buNone/>
            </a:pPr>
            <a:r>
              <a:rPr lang="en-US" sz="1200" dirty="0">
                <a:solidFill>
                  <a:srgbClr val="13233F"/>
                </a:solidFill>
                <a:latin typeface="IBM Plex Sans" pitchFamily="34" charset="0"/>
                <a:ea typeface="IBM Plex Sans" pitchFamily="34" charset="-122"/>
                <a:cs typeface="IBM Plex Sans" pitchFamily="34" charset="-120"/>
              </a:rPr>
              <a:t>one thread per account</a:t>
            </a:r>
            <a:endParaRPr lang="en-US" sz="1200" dirty="0"/>
          </a:p>
        </p:txBody>
      </p:sp>
      <p:sp>
        <p:nvSpPr>
          <p:cNvPr id="22" name="Text 20"/>
          <p:cNvSpPr/>
          <p:nvPr/>
        </p:nvSpPr>
        <p:spPr>
          <a:xfrm>
            <a:off x="9204590" y="3192661"/>
            <a:ext cx="1660988" cy="314920"/>
          </a:xfrm>
          <a:prstGeom prst="roundRect">
            <a:avLst>
              <a:gd name="adj" fmla="val 50000"/>
            </a:avLst>
          </a:prstGeom>
          <a:solidFill>
            <a:srgbClr val="EEF1F5"/>
          </a:solidFill>
          <a:ln/>
        </p:spPr>
        <p:txBody>
          <a:bodyPr wrap="none" lIns="0" tIns="0" rIns="0" bIns="0" rtlCol="0" anchor="ctr">
            <a:normAutofit/>
          </a:bodyPr>
          <a:lstStyle/>
          <a:p>
            <a:pPr algn="ctr" indent="0" marL="0">
              <a:lnSpc>
                <a:spcPts val="1680"/>
              </a:lnSpc>
              <a:buNone/>
            </a:pPr>
            <a:r>
              <a:rPr lang="en-US" sz="1200" dirty="0">
                <a:solidFill>
                  <a:srgbClr val="13233F"/>
                </a:solidFill>
                <a:latin typeface="IBM Plex Sans" pitchFamily="34" charset="0"/>
                <a:ea typeface="IBM Plex Sans" pitchFamily="34" charset="-122"/>
                <a:cs typeface="IBM Plex Sans" pitchFamily="34" charset="-120"/>
              </a:rPr>
              <a:t>heartbeat every 15 s</a:t>
            </a:r>
            <a:endParaRPr lang="en-US" sz="1200" dirty="0"/>
          </a:p>
        </p:txBody>
      </p:sp>
      <p:sp>
        <p:nvSpPr>
          <p:cNvPr id="23" name="Text 21"/>
          <p:cNvSpPr/>
          <p:nvPr/>
        </p:nvSpPr>
        <p:spPr>
          <a:xfrm>
            <a:off x="2671233" y="3583781"/>
            <a:ext cx="1891705" cy="314920"/>
          </a:xfrm>
          <a:prstGeom prst="roundRect">
            <a:avLst>
              <a:gd name="adj" fmla="val 50000"/>
            </a:avLst>
          </a:prstGeom>
          <a:solidFill>
            <a:srgbClr val="EEF1F5"/>
          </a:solidFill>
          <a:ln/>
        </p:spPr>
        <p:txBody>
          <a:bodyPr wrap="none" lIns="0" tIns="0" rIns="0" bIns="0" rtlCol="0" anchor="ctr">
            <a:normAutofit/>
          </a:bodyPr>
          <a:lstStyle/>
          <a:p>
            <a:pPr algn="ctr" indent="0" marL="0">
              <a:lnSpc>
                <a:spcPts val="1680"/>
              </a:lnSpc>
              <a:buNone/>
            </a:pPr>
            <a:r>
              <a:rPr lang="en-US" sz="1200" dirty="0">
                <a:solidFill>
                  <a:srgbClr val="13233F"/>
                </a:solidFill>
                <a:latin typeface="IBM Plex Sans" pitchFamily="34" charset="0"/>
                <a:ea typeface="IBM Plex Sans" pitchFamily="34" charset="-122"/>
                <a:cs typeface="IBM Plex Sans" pitchFamily="34" charset="-120"/>
              </a:rPr>
              <a:t>partial report every 10 s</a:t>
            </a:r>
            <a:endParaRPr lang="en-US" sz="1200" dirty="0"/>
          </a:p>
        </p:txBody>
      </p:sp>
      <p:sp>
        <p:nvSpPr>
          <p:cNvPr id="24" name="Text 22"/>
          <p:cNvSpPr/>
          <p:nvPr/>
        </p:nvSpPr>
        <p:spPr>
          <a:xfrm>
            <a:off x="4639138" y="3583781"/>
            <a:ext cx="1178785" cy="314920"/>
          </a:xfrm>
          <a:prstGeom prst="roundRect">
            <a:avLst>
              <a:gd name="adj" fmla="val 50000"/>
            </a:avLst>
          </a:prstGeom>
          <a:solidFill>
            <a:srgbClr val="EEF1F5"/>
          </a:solidFill>
          <a:ln/>
        </p:spPr>
        <p:txBody>
          <a:bodyPr wrap="none" lIns="0" tIns="0" rIns="0" bIns="0" rtlCol="0" anchor="ctr">
            <a:normAutofit/>
          </a:bodyPr>
          <a:lstStyle/>
          <a:p>
            <a:pPr algn="ctr" indent="0" marL="0">
              <a:lnSpc>
                <a:spcPts val="1680"/>
              </a:lnSpc>
              <a:buNone/>
            </a:pPr>
            <a:r>
              <a:rPr lang="en-US" sz="1200" dirty="0">
                <a:solidFill>
                  <a:srgbClr val="13233F"/>
                </a:solidFill>
                <a:latin typeface="IBM Plex Sans" pitchFamily="34" charset="0"/>
                <a:ea typeface="IBM Plex Sans" pitchFamily="34" charset="-122"/>
                <a:cs typeface="IBM Plex Sans" pitchFamily="34" charset="-120"/>
              </a:rPr>
              <a:t>full debug log</a:t>
            </a:r>
            <a:endParaRPr lang="en-US" sz="1200" dirty="0"/>
          </a:p>
        </p:txBody>
      </p:sp>
      <p:sp>
        <p:nvSpPr>
          <p:cNvPr id="25" name="Shape 23"/>
          <p:cNvSpPr/>
          <p:nvPr/>
        </p:nvSpPr>
        <p:spPr>
          <a:xfrm>
            <a:off x="815975" y="4160110"/>
            <a:ext cx="10560050" cy="962157"/>
          </a:xfrm>
          <a:prstGeom prst="roundRect">
            <a:avLst>
              <a:gd name="adj" fmla="val 8910"/>
            </a:avLst>
          </a:prstGeom>
          <a:solidFill>
            <a:srgbClr val="FFFFFF"/>
          </a:solidFill>
          <a:ln w="6350">
            <a:solidFill>
              <a:srgbClr val="E1DED6"/>
            </a:solidFill>
            <a:prstDash val="solid"/>
          </a:ln>
        </p:spPr>
      </p:sp>
      <p:sp>
        <p:nvSpPr>
          <p:cNvPr id="26" name="Text 24"/>
          <p:cNvSpPr/>
          <p:nvPr/>
        </p:nvSpPr>
        <p:spPr>
          <a:xfrm>
            <a:off x="994833" y="4526890"/>
            <a:ext cx="1574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F"/>
                </a:solidFill>
                <a:latin typeface="IBM Plex Sans" pitchFamily="34" charset="0"/>
                <a:ea typeface="IBM Plex Sans" pitchFamily="34" charset="-122"/>
                <a:cs typeface="IBM Plex Sans" pitchFamily="34" charset="-120"/>
              </a:rPr>
              <a:t>Model pool</a:t>
            </a:r>
            <a:endParaRPr lang="en-US" sz="1500" dirty="0"/>
          </a:p>
        </p:txBody>
      </p:sp>
      <p:sp>
        <p:nvSpPr>
          <p:cNvPr id="27" name="Text 25"/>
          <p:cNvSpPr/>
          <p:nvPr/>
        </p:nvSpPr>
        <p:spPr>
          <a:xfrm>
            <a:off x="2671233" y="4288169"/>
            <a:ext cx="1385755" cy="314920"/>
          </a:xfrm>
          <a:prstGeom prst="roundRect">
            <a:avLst>
              <a:gd name="adj" fmla="val 50000"/>
            </a:avLst>
          </a:prstGeom>
          <a:solidFill>
            <a:srgbClr val="FCE9DC"/>
          </a:solidFill>
          <a:ln/>
        </p:spPr>
        <p:txBody>
          <a:bodyPr wrap="none" lIns="0" tIns="0" rIns="0" bIns="0" rtlCol="0" anchor="ctr">
            <a:normAutofit/>
          </a:bodyPr>
          <a:lstStyle/>
          <a:p>
            <a:pPr algn="ctr" indent="0" marL="0">
              <a:lnSpc>
                <a:spcPts val="1680"/>
              </a:lnSpc>
              <a:buNone/>
            </a:pPr>
            <a:r>
              <a:rPr lang="en-US" sz="1200" dirty="0">
                <a:solidFill>
                  <a:srgbClr val="A94E16"/>
                </a:solidFill>
                <a:latin typeface="IBM Plex Sans" pitchFamily="34" charset="0"/>
                <a:ea typeface="IBM Plex Sans" pitchFamily="34" charset="-122"/>
                <a:cs typeface="IBM Plex Sans" pitchFamily="34" charset="-120"/>
              </a:rPr>
              <a:t>Groq × 3 models</a:t>
            </a:r>
            <a:endParaRPr lang="en-US" sz="1200" dirty="0"/>
          </a:p>
        </p:txBody>
      </p:sp>
      <p:sp>
        <p:nvSpPr>
          <p:cNvPr id="28" name="Text 26"/>
          <p:cNvSpPr/>
          <p:nvPr/>
        </p:nvSpPr>
        <p:spPr>
          <a:xfrm>
            <a:off x="4133189" y="4288169"/>
            <a:ext cx="1667404" cy="314920"/>
          </a:xfrm>
          <a:prstGeom prst="roundRect">
            <a:avLst>
              <a:gd name="adj" fmla="val 50000"/>
            </a:avLst>
          </a:prstGeom>
          <a:solidFill>
            <a:srgbClr val="FCE9DC"/>
          </a:solidFill>
          <a:ln/>
        </p:spPr>
        <p:txBody>
          <a:bodyPr wrap="none" lIns="0" tIns="0" rIns="0" bIns="0" rtlCol="0" anchor="ctr">
            <a:normAutofit/>
          </a:bodyPr>
          <a:lstStyle/>
          <a:p>
            <a:pPr algn="ctr" indent="0" marL="0">
              <a:lnSpc>
                <a:spcPts val="1680"/>
              </a:lnSpc>
              <a:buNone/>
            </a:pPr>
            <a:r>
              <a:rPr lang="en-US" sz="1200" dirty="0">
                <a:solidFill>
                  <a:srgbClr val="A94E16"/>
                </a:solidFill>
                <a:latin typeface="IBM Plex Sans" pitchFamily="34" charset="0"/>
                <a:ea typeface="IBM Plex Sans" pitchFamily="34" charset="-122"/>
                <a:cs typeface="IBM Plex Sans" pitchFamily="34" charset="-120"/>
              </a:rPr>
              <a:t>Cerebras × 2 models</a:t>
            </a:r>
            <a:endParaRPr lang="en-US" sz="1200" dirty="0"/>
          </a:p>
        </p:txBody>
      </p:sp>
      <p:sp>
        <p:nvSpPr>
          <p:cNvPr id="29" name="Text 27"/>
          <p:cNvSpPr/>
          <p:nvPr/>
        </p:nvSpPr>
        <p:spPr>
          <a:xfrm>
            <a:off x="5876793" y="4288169"/>
            <a:ext cx="739444" cy="314920"/>
          </a:xfrm>
          <a:prstGeom prst="roundRect">
            <a:avLst>
              <a:gd name="adj" fmla="val 50000"/>
            </a:avLst>
          </a:prstGeom>
          <a:solidFill>
            <a:srgbClr val="FCE9DC"/>
          </a:solidFill>
          <a:ln/>
        </p:spPr>
        <p:txBody>
          <a:bodyPr wrap="none" lIns="0" tIns="0" rIns="0" bIns="0" rtlCol="0" anchor="ctr">
            <a:normAutofit/>
          </a:bodyPr>
          <a:lstStyle/>
          <a:p>
            <a:pPr algn="ctr" indent="0" marL="0">
              <a:lnSpc>
                <a:spcPts val="1680"/>
              </a:lnSpc>
              <a:buNone/>
            </a:pPr>
            <a:r>
              <a:rPr lang="en-US" sz="1200" dirty="0">
                <a:solidFill>
                  <a:srgbClr val="A94E16"/>
                </a:solidFill>
                <a:latin typeface="IBM Plex Sans" pitchFamily="34" charset="0"/>
                <a:ea typeface="IBM Plex Sans" pitchFamily="34" charset="-122"/>
                <a:cs typeface="IBM Plex Sans" pitchFamily="34" charset="-120"/>
              </a:rPr>
              <a:t>Gemini</a:t>
            </a:r>
            <a:endParaRPr lang="en-US" sz="1200" dirty="0"/>
          </a:p>
        </p:txBody>
      </p:sp>
      <p:sp>
        <p:nvSpPr>
          <p:cNvPr id="30" name="Text 28"/>
          <p:cNvSpPr/>
          <p:nvPr/>
        </p:nvSpPr>
        <p:spPr>
          <a:xfrm>
            <a:off x="6692437" y="4288169"/>
            <a:ext cx="720659" cy="314920"/>
          </a:xfrm>
          <a:prstGeom prst="roundRect">
            <a:avLst>
              <a:gd name="adj" fmla="val 50000"/>
            </a:avLst>
          </a:prstGeom>
          <a:solidFill>
            <a:srgbClr val="FCE9DC"/>
          </a:solidFill>
          <a:ln/>
        </p:spPr>
        <p:txBody>
          <a:bodyPr wrap="none" lIns="0" tIns="0" rIns="0" bIns="0" rtlCol="0" anchor="ctr">
            <a:normAutofit/>
          </a:bodyPr>
          <a:lstStyle/>
          <a:p>
            <a:pPr algn="ctr" indent="0" marL="0">
              <a:lnSpc>
                <a:spcPts val="1680"/>
              </a:lnSpc>
              <a:buNone/>
            </a:pPr>
            <a:r>
              <a:rPr lang="en-US" sz="1200" dirty="0">
                <a:solidFill>
                  <a:srgbClr val="A94E16"/>
                </a:solidFill>
                <a:latin typeface="IBM Plex Sans" pitchFamily="34" charset="0"/>
                <a:ea typeface="IBM Plex Sans" pitchFamily="34" charset="-122"/>
                <a:cs typeface="IBM Plex Sans" pitchFamily="34" charset="-120"/>
              </a:rPr>
              <a:t>Mistral</a:t>
            </a:r>
            <a:endParaRPr lang="en-US" sz="1200" dirty="0"/>
          </a:p>
        </p:txBody>
      </p:sp>
      <p:sp>
        <p:nvSpPr>
          <p:cNvPr id="31" name="Text 29"/>
          <p:cNvSpPr/>
          <p:nvPr/>
        </p:nvSpPr>
        <p:spPr>
          <a:xfrm>
            <a:off x="7489296" y="4288169"/>
            <a:ext cx="1080161" cy="314920"/>
          </a:xfrm>
          <a:prstGeom prst="roundRect">
            <a:avLst>
              <a:gd name="adj" fmla="val 50000"/>
            </a:avLst>
          </a:prstGeom>
          <a:solidFill>
            <a:srgbClr val="FCE9DC"/>
          </a:solidFill>
          <a:ln/>
        </p:spPr>
        <p:txBody>
          <a:bodyPr wrap="none" lIns="0" tIns="0" rIns="0" bIns="0" rtlCol="0" anchor="ctr">
            <a:normAutofit/>
          </a:bodyPr>
          <a:lstStyle/>
          <a:p>
            <a:pPr algn="ctr" indent="0" marL="0">
              <a:lnSpc>
                <a:spcPts val="1680"/>
              </a:lnSpc>
              <a:buNone/>
            </a:pPr>
            <a:r>
              <a:rPr lang="en-US" sz="1200" dirty="0">
                <a:solidFill>
                  <a:srgbClr val="A94E16"/>
                </a:solidFill>
                <a:latin typeface="IBM Plex Sans" pitchFamily="34" charset="0"/>
                <a:ea typeface="IBM Plex Sans" pitchFamily="34" charset="-122"/>
                <a:cs typeface="IBM Plex Sans" pitchFamily="34" charset="-120"/>
              </a:rPr>
              <a:t>OpenRouter</a:t>
            </a:r>
            <a:endParaRPr lang="en-US" sz="1200" dirty="0"/>
          </a:p>
        </p:txBody>
      </p:sp>
      <p:sp>
        <p:nvSpPr>
          <p:cNvPr id="32" name="Text 30"/>
          <p:cNvSpPr/>
          <p:nvPr/>
        </p:nvSpPr>
        <p:spPr>
          <a:xfrm>
            <a:off x="8645658" y="4288169"/>
            <a:ext cx="1541793" cy="314920"/>
          </a:xfrm>
          <a:prstGeom prst="roundRect">
            <a:avLst>
              <a:gd name="adj" fmla="val 50000"/>
            </a:avLst>
          </a:prstGeom>
          <a:solidFill>
            <a:srgbClr val="FCE9DC"/>
          </a:solidFill>
          <a:ln/>
        </p:spPr>
        <p:txBody>
          <a:bodyPr wrap="none" lIns="0" tIns="0" rIns="0" bIns="0" rtlCol="0" anchor="ctr">
            <a:normAutofit/>
          </a:bodyPr>
          <a:lstStyle/>
          <a:p>
            <a:pPr algn="ctr" indent="0" marL="0">
              <a:lnSpc>
                <a:spcPts val="1680"/>
              </a:lnSpc>
              <a:buNone/>
            </a:pPr>
            <a:r>
              <a:rPr lang="en-US" sz="1200" dirty="0">
                <a:solidFill>
                  <a:srgbClr val="A94E16"/>
                </a:solidFill>
                <a:latin typeface="IBM Plex Sans" pitchFamily="34" charset="0"/>
                <a:ea typeface="IBM Plex Sans" pitchFamily="34" charset="-122"/>
                <a:cs typeface="IBM Plex Sans" pitchFamily="34" charset="-120"/>
              </a:rPr>
              <a:t>Ollama (local GPU)</a:t>
            </a:r>
            <a:endParaRPr lang="en-US" sz="1200" dirty="0"/>
          </a:p>
        </p:txBody>
      </p:sp>
      <p:sp>
        <p:nvSpPr>
          <p:cNvPr id="33" name="Text 31"/>
          <p:cNvSpPr/>
          <p:nvPr/>
        </p:nvSpPr>
        <p:spPr>
          <a:xfrm>
            <a:off x="2671233" y="4679290"/>
            <a:ext cx="1836539" cy="314920"/>
          </a:xfrm>
          <a:prstGeom prst="roundRect">
            <a:avLst>
              <a:gd name="adj" fmla="val 50000"/>
            </a:avLst>
          </a:prstGeom>
          <a:solidFill>
            <a:srgbClr val="FCE9DC"/>
          </a:solidFill>
          <a:ln/>
        </p:spPr>
        <p:txBody>
          <a:bodyPr wrap="none" lIns="0" tIns="0" rIns="0" bIns="0" rtlCol="0" anchor="ctr">
            <a:normAutofit/>
          </a:bodyPr>
          <a:lstStyle/>
          <a:p>
            <a:pPr algn="ctr" indent="0" marL="0">
              <a:lnSpc>
                <a:spcPts val="1680"/>
              </a:lnSpc>
              <a:buNone/>
            </a:pPr>
            <a:r>
              <a:rPr lang="en-US" sz="1200" dirty="0">
                <a:solidFill>
                  <a:srgbClr val="A94E16"/>
                </a:solidFill>
                <a:latin typeface="IBM Plex Sans" pitchFamily="34" charset="0"/>
                <a:ea typeface="IBM Plex Sans" pitchFamily="34" charset="-122"/>
                <a:cs typeface="IBM Plex Sans" pitchFamily="34" charset="-120"/>
              </a:rPr>
              <a:t>limits read from replies</a:t>
            </a:r>
            <a:endParaRPr lang="en-US" sz="1200" dirty="0"/>
          </a:p>
        </p:txBody>
      </p:sp>
      <p:sp>
        <p:nvSpPr>
          <p:cNvPr id="34" name="Text 32"/>
          <p:cNvSpPr/>
          <p:nvPr/>
        </p:nvSpPr>
        <p:spPr>
          <a:xfrm>
            <a:off x="4583973" y="4679290"/>
            <a:ext cx="1540603" cy="314920"/>
          </a:xfrm>
          <a:prstGeom prst="roundRect">
            <a:avLst>
              <a:gd name="adj" fmla="val 50000"/>
            </a:avLst>
          </a:prstGeom>
          <a:solidFill>
            <a:srgbClr val="FCE9DC"/>
          </a:solidFill>
          <a:ln/>
        </p:spPr>
        <p:txBody>
          <a:bodyPr wrap="none" lIns="0" tIns="0" rIns="0" bIns="0" rtlCol="0" anchor="ctr">
            <a:normAutofit/>
          </a:bodyPr>
          <a:lstStyle/>
          <a:p>
            <a:pPr algn="ctr" indent="0" marL="0">
              <a:lnSpc>
                <a:spcPts val="1680"/>
              </a:lnSpc>
              <a:buNone/>
            </a:pPr>
            <a:r>
              <a:rPr lang="en-US" sz="1200" dirty="0">
                <a:solidFill>
                  <a:srgbClr val="A94E16"/>
                </a:solidFill>
                <a:latin typeface="IBM Plex Sans" pitchFamily="34" charset="0"/>
                <a:ea typeface="IBM Plex Sans" pitchFamily="34" charset="-122"/>
                <a:cs typeface="IBM Plex Sans" pitchFamily="34" charset="-120"/>
              </a:rPr>
              <a:t>4 accounts per call</a:t>
            </a:r>
            <a:endParaRPr lang="en-US" sz="1200" dirty="0"/>
          </a:p>
        </p:txBody>
      </p:sp>
      <p:sp>
        <p:nvSpPr>
          <p:cNvPr id="35" name="Shape 33"/>
          <p:cNvSpPr/>
          <p:nvPr/>
        </p:nvSpPr>
        <p:spPr>
          <a:xfrm>
            <a:off x="815975" y="5255617"/>
            <a:ext cx="10560050" cy="571037"/>
          </a:xfrm>
          <a:prstGeom prst="roundRect">
            <a:avLst>
              <a:gd name="adj" fmla="val 15012"/>
            </a:avLst>
          </a:prstGeom>
          <a:solidFill>
            <a:srgbClr val="FFFFFF"/>
          </a:solidFill>
          <a:ln w="6350">
            <a:solidFill>
              <a:srgbClr val="E1DED6"/>
            </a:solidFill>
            <a:prstDash val="solid"/>
          </a:ln>
        </p:spPr>
      </p:sp>
      <p:sp>
        <p:nvSpPr>
          <p:cNvPr id="36" name="Text 34"/>
          <p:cNvSpPr/>
          <p:nvPr/>
        </p:nvSpPr>
        <p:spPr>
          <a:xfrm>
            <a:off x="994833" y="5426804"/>
            <a:ext cx="1574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F"/>
                </a:solidFill>
                <a:latin typeface="IBM Plex Sans" pitchFamily="34" charset="0"/>
                <a:ea typeface="IBM Plex Sans" pitchFamily="34" charset="-122"/>
                <a:cs typeface="IBM Plex Sans" pitchFamily="34" charset="-120"/>
              </a:rPr>
              <a:t>Outputs</a:t>
            </a:r>
            <a:endParaRPr lang="en-US" sz="1500" dirty="0"/>
          </a:p>
        </p:txBody>
      </p:sp>
      <p:sp>
        <p:nvSpPr>
          <p:cNvPr id="37" name="Text 35"/>
          <p:cNvSpPr/>
          <p:nvPr/>
        </p:nvSpPr>
        <p:spPr>
          <a:xfrm>
            <a:off x="2671233" y="5383676"/>
            <a:ext cx="1332442" cy="314920"/>
          </a:xfrm>
          <a:prstGeom prst="roundRect">
            <a:avLst>
              <a:gd name="adj" fmla="val 50000"/>
            </a:avLst>
          </a:prstGeom>
          <a:solidFill>
            <a:srgbClr val="EEF1F5"/>
          </a:solidFill>
          <a:ln/>
        </p:spPr>
        <p:txBody>
          <a:bodyPr wrap="none" lIns="0" tIns="0" rIns="0" bIns="0" rtlCol="0" anchor="ctr">
            <a:normAutofit/>
          </a:bodyPr>
          <a:lstStyle/>
          <a:p>
            <a:pPr algn="ctr" indent="0" marL="0">
              <a:lnSpc>
                <a:spcPts val="1680"/>
              </a:lnSpc>
              <a:buNone/>
            </a:pPr>
            <a:r>
              <a:rPr lang="en-US" sz="1200" dirty="0">
                <a:solidFill>
                  <a:srgbClr val="13233F"/>
                </a:solidFill>
                <a:latin typeface="IBM Plex Sans" pitchFamily="34" charset="0"/>
                <a:ea typeface="IBM Plex Sans" pitchFamily="34" charset="-122"/>
                <a:cs typeface="IBM Plex Sans" pitchFamily="34" charset="-120"/>
              </a:rPr>
              <a:t>Excel workbook</a:t>
            </a:r>
            <a:endParaRPr lang="en-US" sz="1200" dirty="0"/>
          </a:p>
        </p:txBody>
      </p:sp>
      <p:sp>
        <p:nvSpPr>
          <p:cNvPr id="38" name="Text 36"/>
          <p:cNvSpPr/>
          <p:nvPr/>
        </p:nvSpPr>
        <p:spPr>
          <a:xfrm>
            <a:off x="4079875" y="5383676"/>
            <a:ext cx="1553567" cy="314920"/>
          </a:xfrm>
          <a:prstGeom prst="roundRect">
            <a:avLst>
              <a:gd name="adj" fmla="val 50000"/>
            </a:avLst>
          </a:prstGeom>
          <a:solidFill>
            <a:srgbClr val="EEF1F5"/>
          </a:solidFill>
          <a:ln/>
        </p:spPr>
        <p:txBody>
          <a:bodyPr wrap="none" lIns="0" tIns="0" rIns="0" bIns="0" rtlCol="0" anchor="ctr">
            <a:normAutofit/>
          </a:bodyPr>
          <a:lstStyle/>
          <a:p>
            <a:pPr algn="ctr" indent="0" marL="0">
              <a:lnSpc>
                <a:spcPts val="1680"/>
              </a:lnSpc>
              <a:buNone/>
            </a:pPr>
            <a:r>
              <a:rPr lang="en-US" sz="1200" dirty="0">
                <a:solidFill>
                  <a:srgbClr val="13233F"/>
                </a:solidFill>
                <a:latin typeface="IBM Plex Sans" pitchFamily="34" charset="0"/>
                <a:ea typeface="IBM Plex Sans" pitchFamily="34" charset="-122"/>
                <a:cs typeface="IBM Plex Sans" pitchFamily="34" charset="-120"/>
              </a:rPr>
              <a:t>agent conversation</a:t>
            </a:r>
            <a:endParaRPr lang="en-US" sz="1200" dirty="0"/>
          </a:p>
        </p:txBody>
      </p:sp>
      <p:sp>
        <p:nvSpPr>
          <p:cNvPr id="39" name="Text 37"/>
          <p:cNvSpPr/>
          <p:nvPr/>
        </p:nvSpPr>
        <p:spPr>
          <a:xfrm>
            <a:off x="5709642" y="5383676"/>
            <a:ext cx="1331185" cy="314920"/>
          </a:xfrm>
          <a:prstGeom prst="roundRect">
            <a:avLst>
              <a:gd name="adj" fmla="val 50000"/>
            </a:avLst>
          </a:prstGeom>
          <a:solidFill>
            <a:srgbClr val="EEF1F5"/>
          </a:solidFill>
          <a:ln/>
        </p:spPr>
        <p:txBody>
          <a:bodyPr wrap="none" lIns="0" tIns="0" rIns="0" bIns="0" rtlCol="0" anchor="ctr">
            <a:normAutofit/>
          </a:bodyPr>
          <a:lstStyle/>
          <a:p>
            <a:pPr algn="ctr" indent="0" marL="0">
              <a:lnSpc>
                <a:spcPts val="1680"/>
              </a:lnSpc>
              <a:buNone/>
            </a:pPr>
            <a:r>
              <a:rPr lang="en-US" sz="1200" dirty="0">
                <a:solidFill>
                  <a:srgbClr val="13233F"/>
                </a:solidFill>
                <a:latin typeface="IBM Plex Sans" pitchFamily="34" charset="0"/>
                <a:ea typeface="IBM Plex Sans" pitchFamily="34" charset="-122"/>
                <a:cs typeface="IBM Plex Sans" pitchFamily="34" charset="-120"/>
              </a:rPr>
              <a:t>JSON for a CRM</a:t>
            </a:r>
            <a:endParaRPr lang="en-US" sz="1200" dirty="0"/>
          </a:p>
        </p:txBody>
      </p:sp>
      <p:sp>
        <p:nvSpPr>
          <p:cNvPr id="40" name="Text 38"/>
          <p:cNvSpPr/>
          <p:nvPr/>
        </p:nvSpPr>
        <p:spPr>
          <a:xfrm>
            <a:off x="7117028" y="5383676"/>
            <a:ext cx="2274094" cy="314920"/>
          </a:xfrm>
          <a:prstGeom prst="roundRect">
            <a:avLst>
              <a:gd name="adj" fmla="val 50000"/>
            </a:avLst>
          </a:prstGeom>
          <a:solidFill>
            <a:srgbClr val="EEF1F5"/>
          </a:solidFill>
          <a:ln/>
        </p:spPr>
        <p:txBody>
          <a:bodyPr wrap="none" lIns="0" tIns="0" rIns="0" bIns="0" rtlCol="0" anchor="ctr">
            <a:normAutofit/>
          </a:bodyPr>
          <a:lstStyle/>
          <a:p>
            <a:pPr algn="ctr" indent="0" marL="0">
              <a:lnSpc>
                <a:spcPts val="1680"/>
              </a:lnSpc>
              <a:buNone/>
            </a:pPr>
            <a:r>
              <a:rPr lang="en-US" sz="1200" dirty="0">
                <a:solidFill>
                  <a:srgbClr val="13233F"/>
                </a:solidFill>
                <a:latin typeface="IBM Plex Sans" pitchFamily="34" charset="0"/>
                <a:ea typeface="IBM Plex Sans" pitchFamily="34" charset="-122"/>
                <a:cs typeface="IBM Plex Sans" pitchFamily="34" charset="-120"/>
              </a:rPr>
              <a:t>live capture with page hashes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609600" y="431800"/>
            <a:ext cx="11301984" cy="402564"/>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13233F"/>
                </a:solidFill>
                <a:latin typeface="IBM Plex Sans" pitchFamily="34" charset="0"/>
                <a:ea typeface="IBM Plex Sans" pitchFamily="34" charset="-122"/>
                <a:cs typeface="IBM Plex Sans" pitchFamily="34" charset="-120"/>
              </a:rPr>
              <a:t>Sequence 1 of 2: collect the list live, then triage</a:t>
            </a:r>
            <a:endParaRPr lang="en-US" sz="2700" dirty="0"/>
          </a:p>
        </p:txBody>
      </p:sp>
      <p:sp>
        <p:nvSpPr>
          <p:cNvPr id="3" name="Text 1"/>
          <p:cNvSpPr/>
          <p:nvPr/>
        </p:nvSpPr>
        <p:spPr>
          <a:xfrm>
            <a:off x="609600" y="8763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Solid = request or handoff · dashed = reply · orange = a model call. Steps 1 and 2 run in parallel.</a:t>
            </a:r>
            <a:endParaRPr lang="en-US" sz="1200" dirty="0"/>
          </a:p>
        </p:txBody>
      </p:sp>
      <p:sp>
        <p:nvSpPr>
          <p:cNvPr id="4" name="Text 2"/>
          <p:cNvSpPr/>
          <p:nvPr/>
        </p:nvSpPr>
        <p:spPr>
          <a:xfrm>
            <a:off x="774700" y="1193800"/>
            <a:ext cx="1498600" cy="368168"/>
          </a:xfrm>
          <a:custGeom>
            <a:avLst/>
            <a:gdLst/>
            <a:ahLst/>
            <a:cxnLst/>
            <a:rect l="l" t="t" r="r" b="b"/>
            <a:pathLst>
              <a:path w="1498600" h="368168">
                <a:moveTo>
                  <a:pt x="76200" y="0"/>
                </a:moveTo>
                <a:lnTo>
                  <a:pt x="1422400" y="0"/>
                </a:lnTo>
                <a:arcTo hR="76200" wR="76200" stAng="16200000" swAng="5400000"/>
                <a:lnTo>
                  <a:pt x="1498600" y="291968"/>
                </a:lnTo>
                <a:arcTo hR="76200" wR="76200" stAng="0" swAng="5400000"/>
                <a:lnTo>
                  <a:pt x="76200" y="368168"/>
                </a:lnTo>
                <a:arcTo hR="76200" wR="76200" stAng="5400000" swAng="5400000"/>
                <a:lnTo>
                  <a:pt x="0" y="76200"/>
                </a:lnTo>
                <a:arcTo hR="76200" wR="76200" stAng="10800000" swAng="5400000"/>
                <a:close/>
              </a:path>
            </a:pathLst>
          </a:custGeom>
          <a:solidFill>
            <a:srgbClr val="13233F"/>
          </a:solidFill>
          <a:ln/>
        </p:spPr>
        <p:txBody>
          <a:bodyPr wrap="square" lIns="0" tIns="0" rIns="0" bIns="0" rtlCol="0" anchor="t">
            <a:normAutofit/>
          </a:bodyPr>
          <a:lstStyle/>
          <a:p>
            <a:pPr algn="ctr" indent="0" marL="0">
              <a:lnSpc>
                <a:spcPts val="2899"/>
              </a:lnSpc>
              <a:buNone/>
            </a:pPr>
            <a:r>
              <a:rPr lang="en-US" sz="1300" b="1" dirty="0">
                <a:solidFill>
                  <a:srgbClr val="F6F5F0"/>
                </a:solidFill>
                <a:latin typeface="IBM Plex Sans" pitchFamily="34" charset="0"/>
                <a:ea typeface="IBM Plex Sans" pitchFamily="34" charset="-122"/>
                <a:cs typeface="IBM Plex Sans" pitchFamily="34" charset="-120"/>
              </a:rPr>
              <a:t>Coordinator</a:t>
            </a:r>
            <a:endParaRPr lang="en-US" sz="1300" dirty="0"/>
          </a:p>
        </p:txBody>
      </p:sp>
      <p:sp>
        <p:nvSpPr>
          <p:cNvPr id="5" name="Text 3"/>
          <p:cNvSpPr/>
          <p:nvPr/>
        </p:nvSpPr>
        <p:spPr>
          <a:xfrm>
            <a:off x="2603500" y="1193800"/>
            <a:ext cx="1498600" cy="368168"/>
          </a:xfrm>
          <a:custGeom>
            <a:avLst/>
            <a:gdLst/>
            <a:ahLst/>
            <a:cxnLst/>
            <a:rect l="l" t="t" r="r" b="b"/>
            <a:pathLst>
              <a:path w="1498600" h="368168">
                <a:moveTo>
                  <a:pt x="76200" y="0"/>
                </a:moveTo>
                <a:lnTo>
                  <a:pt x="1422400" y="0"/>
                </a:lnTo>
                <a:arcTo hR="76200" wR="76200" stAng="16200000" swAng="5400000"/>
                <a:lnTo>
                  <a:pt x="1498600" y="291968"/>
                </a:lnTo>
                <a:arcTo hR="76200" wR="76200" stAng="0" swAng="5400000"/>
                <a:lnTo>
                  <a:pt x="76200" y="368168"/>
                </a:lnTo>
                <a:arcTo hR="76200" wR="76200" stAng="5400000" swAng="5400000"/>
                <a:lnTo>
                  <a:pt x="0" y="76200"/>
                </a:lnTo>
                <a:arcTo hR="76200" wR="76200" stAng="10800000" swAng="5400000"/>
                <a:close/>
              </a:path>
            </a:pathLst>
          </a:custGeom>
          <a:solidFill>
            <a:srgbClr val="13233F"/>
          </a:solidFill>
          <a:ln/>
        </p:spPr>
        <p:txBody>
          <a:bodyPr wrap="square" lIns="0" tIns="0" rIns="0" bIns="0" rtlCol="0" anchor="t">
            <a:normAutofit/>
          </a:bodyPr>
          <a:lstStyle/>
          <a:p>
            <a:pPr algn="ctr" indent="0" marL="0">
              <a:lnSpc>
                <a:spcPts val="2899"/>
              </a:lnSpc>
              <a:buNone/>
            </a:pPr>
            <a:r>
              <a:rPr lang="en-US" sz="1300" b="1" dirty="0">
                <a:solidFill>
                  <a:srgbClr val="F6F5F0"/>
                </a:solidFill>
                <a:latin typeface="IBM Plex Sans" pitchFamily="34" charset="0"/>
                <a:ea typeface="IBM Plex Sans" pitchFamily="34" charset="-122"/>
                <a:cs typeface="IBM Plex Sans" pitchFamily="34" charset="-120"/>
              </a:rPr>
              <a:t>Scout</a:t>
            </a:r>
            <a:endParaRPr lang="en-US" sz="1300" dirty="0"/>
          </a:p>
        </p:txBody>
      </p:sp>
      <p:sp>
        <p:nvSpPr>
          <p:cNvPr id="6" name="Text 4"/>
          <p:cNvSpPr/>
          <p:nvPr/>
        </p:nvSpPr>
        <p:spPr>
          <a:xfrm>
            <a:off x="4432300" y="1193800"/>
            <a:ext cx="1498600" cy="368168"/>
          </a:xfrm>
          <a:custGeom>
            <a:avLst/>
            <a:gdLst/>
            <a:ahLst/>
            <a:cxnLst/>
            <a:rect l="l" t="t" r="r" b="b"/>
            <a:pathLst>
              <a:path w="1498600" h="368168">
                <a:moveTo>
                  <a:pt x="76200" y="0"/>
                </a:moveTo>
                <a:lnTo>
                  <a:pt x="1422400" y="0"/>
                </a:lnTo>
                <a:arcTo hR="76200" wR="76200" stAng="16200000" swAng="5400000"/>
                <a:lnTo>
                  <a:pt x="1498600" y="291968"/>
                </a:lnTo>
                <a:arcTo hR="76200" wR="76200" stAng="0" swAng="5400000"/>
                <a:lnTo>
                  <a:pt x="76200" y="368168"/>
                </a:lnTo>
                <a:arcTo hR="76200" wR="76200" stAng="5400000" swAng="5400000"/>
                <a:lnTo>
                  <a:pt x="0" y="76200"/>
                </a:lnTo>
                <a:arcTo hR="76200" wR="76200" stAng="10800000" swAng="5400000"/>
                <a:close/>
              </a:path>
            </a:pathLst>
          </a:custGeom>
          <a:solidFill>
            <a:srgbClr val="E3E8EF"/>
          </a:solidFill>
          <a:ln/>
        </p:spPr>
        <p:txBody>
          <a:bodyPr wrap="square" lIns="0" tIns="0" rIns="0" bIns="0" rtlCol="0" anchor="t">
            <a:normAutofit/>
          </a:bodyPr>
          <a:lstStyle/>
          <a:p>
            <a:pPr algn="ctr" indent="0" marL="0">
              <a:lnSpc>
                <a:spcPts val="2899"/>
              </a:lnSpc>
              <a:buNone/>
            </a:pPr>
            <a:r>
              <a:rPr lang="en-US" sz="1300" b="1" dirty="0">
                <a:solidFill>
                  <a:srgbClr val="13233F"/>
                </a:solidFill>
                <a:latin typeface="IBM Plex Sans" pitchFamily="34" charset="0"/>
                <a:ea typeface="IBM Plex Sans" pitchFamily="34" charset="-122"/>
                <a:cs typeface="IBM Plex Sans" pitchFamily="34" charset="-120"/>
              </a:rPr>
              <a:t>Conference site</a:t>
            </a:r>
            <a:endParaRPr lang="en-US" sz="1300" dirty="0"/>
          </a:p>
        </p:txBody>
      </p:sp>
      <p:sp>
        <p:nvSpPr>
          <p:cNvPr id="7" name="Text 5"/>
          <p:cNvSpPr/>
          <p:nvPr/>
        </p:nvSpPr>
        <p:spPr>
          <a:xfrm>
            <a:off x="6261100" y="1193800"/>
            <a:ext cx="1498600" cy="368168"/>
          </a:xfrm>
          <a:custGeom>
            <a:avLst/>
            <a:gdLst/>
            <a:ahLst/>
            <a:cxnLst/>
            <a:rect l="l" t="t" r="r" b="b"/>
            <a:pathLst>
              <a:path w="1498600" h="368168">
                <a:moveTo>
                  <a:pt x="76200" y="0"/>
                </a:moveTo>
                <a:lnTo>
                  <a:pt x="1422400" y="0"/>
                </a:lnTo>
                <a:arcTo hR="76200" wR="76200" stAng="16200000" swAng="5400000"/>
                <a:lnTo>
                  <a:pt x="1498600" y="291968"/>
                </a:lnTo>
                <a:arcTo hR="76200" wR="76200" stAng="0" swAng="5400000"/>
                <a:lnTo>
                  <a:pt x="76200" y="368168"/>
                </a:lnTo>
                <a:arcTo hR="76200" wR="76200" stAng="5400000" swAng="5400000"/>
                <a:lnTo>
                  <a:pt x="0" y="76200"/>
                </a:lnTo>
                <a:arcTo hR="76200" wR="76200" stAng="10800000" swAng="5400000"/>
                <a:close/>
              </a:path>
            </a:pathLst>
          </a:custGeom>
          <a:solidFill>
            <a:srgbClr val="13233F"/>
          </a:solidFill>
          <a:ln/>
        </p:spPr>
        <p:txBody>
          <a:bodyPr wrap="square" lIns="0" tIns="0" rIns="0" bIns="0" rtlCol="0" anchor="t">
            <a:normAutofit/>
          </a:bodyPr>
          <a:lstStyle/>
          <a:p>
            <a:pPr algn="ctr" indent="0" marL="0">
              <a:lnSpc>
                <a:spcPts val="2899"/>
              </a:lnSpc>
              <a:buNone/>
            </a:pPr>
            <a:r>
              <a:rPr lang="en-US" sz="1300" b="1" dirty="0">
                <a:solidFill>
                  <a:srgbClr val="F6F5F0"/>
                </a:solidFill>
                <a:latin typeface="IBM Plex Sans" pitchFamily="34" charset="0"/>
                <a:ea typeface="IBM Plex Sans" pitchFamily="34" charset="-122"/>
                <a:cs typeface="IBM Plex Sans" pitchFamily="34" charset="-120"/>
              </a:rPr>
              <a:t>Researcher</a:t>
            </a:r>
            <a:endParaRPr lang="en-US" sz="1300" dirty="0"/>
          </a:p>
        </p:txBody>
      </p:sp>
      <p:sp>
        <p:nvSpPr>
          <p:cNvPr id="8" name="Text 6"/>
          <p:cNvSpPr/>
          <p:nvPr/>
        </p:nvSpPr>
        <p:spPr>
          <a:xfrm>
            <a:off x="8089900" y="1193800"/>
            <a:ext cx="1498600" cy="368168"/>
          </a:xfrm>
          <a:custGeom>
            <a:avLst/>
            <a:gdLst/>
            <a:ahLst/>
            <a:cxnLst/>
            <a:rect l="l" t="t" r="r" b="b"/>
            <a:pathLst>
              <a:path w="1498600" h="368168">
                <a:moveTo>
                  <a:pt x="76200" y="0"/>
                </a:moveTo>
                <a:lnTo>
                  <a:pt x="1422400" y="0"/>
                </a:lnTo>
                <a:arcTo hR="76200" wR="76200" stAng="16200000" swAng="5400000"/>
                <a:lnTo>
                  <a:pt x="1498600" y="291968"/>
                </a:lnTo>
                <a:arcTo hR="76200" wR="76200" stAng="0" swAng="5400000"/>
                <a:lnTo>
                  <a:pt x="76200" y="368168"/>
                </a:lnTo>
                <a:arcTo hR="76200" wR="76200" stAng="5400000" swAng="5400000"/>
                <a:lnTo>
                  <a:pt x="0" y="76200"/>
                </a:lnTo>
                <a:arcTo hR="76200" wR="76200" stAng="10800000" swAng="5400000"/>
                <a:close/>
              </a:path>
            </a:pathLst>
          </a:custGeom>
          <a:solidFill>
            <a:srgbClr val="13233F"/>
          </a:solidFill>
          <a:ln/>
        </p:spPr>
        <p:txBody>
          <a:bodyPr wrap="square" lIns="0" tIns="0" rIns="0" bIns="0" rtlCol="0" anchor="t">
            <a:normAutofit/>
          </a:bodyPr>
          <a:lstStyle/>
          <a:p>
            <a:pPr algn="ctr" indent="0" marL="0">
              <a:lnSpc>
                <a:spcPts val="2899"/>
              </a:lnSpc>
              <a:buNone/>
            </a:pPr>
            <a:r>
              <a:rPr lang="en-US" sz="1300" b="1" dirty="0">
                <a:solidFill>
                  <a:srgbClr val="F6F5F0"/>
                </a:solidFill>
                <a:latin typeface="IBM Plex Sans" pitchFamily="34" charset="0"/>
                <a:ea typeface="IBM Plex Sans" pitchFamily="34" charset="-122"/>
                <a:cs typeface="IBM Plex Sans" pitchFamily="34" charset="-120"/>
              </a:rPr>
              <a:t>Analyst</a:t>
            </a:r>
            <a:endParaRPr lang="en-US" sz="1300" dirty="0"/>
          </a:p>
        </p:txBody>
      </p:sp>
      <p:sp>
        <p:nvSpPr>
          <p:cNvPr id="9" name="Text 7"/>
          <p:cNvSpPr/>
          <p:nvPr/>
        </p:nvSpPr>
        <p:spPr>
          <a:xfrm>
            <a:off x="9918700" y="1193800"/>
            <a:ext cx="1498600" cy="368168"/>
          </a:xfrm>
          <a:custGeom>
            <a:avLst/>
            <a:gdLst/>
            <a:ahLst/>
            <a:cxnLst/>
            <a:rect l="l" t="t" r="r" b="b"/>
            <a:pathLst>
              <a:path w="1498600" h="368168">
                <a:moveTo>
                  <a:pt x="76200" y="0"/>
                </a:moveTo>
                <a:lnTo>
                  <a:pt x="1422400" y="0"/>
                </a:lnTo>
                <a:arcTo hR="76200" wR="76200" stAng="16200000" swAng="5400000"/>
                <a:lnTo>
                  <a:pt x="1498600" y="291968"/>
                </a:lnTo>
                <a:arcTo hR="76200" wR="76200" stAng="0" swAng="5400000"/>
                <a:lnTo>
                  <a:pt x="76200" y="368168"/>
                </a:lnTo>
                <a:arcTo hR="76200" wR="76200" stAng="5400000" swAng="5400000"/>
                <a:lnTo>
                  <a:pt x="0" y="76200"/>
                </a:lnTo>
                <a:arcTo hR="76200" wR="76200" stAng="10800000" swAng="5400000"/>
                <a:close/>
              </a:path>
            </a:pathLst>
          </a:custGeom>
          <a:solidFill>
            <a:srgbClr val="FCE9DC"/>
          </a:solidFill>
          <a:ln/>
        </p:spPr>
        <p:txBody>
          <a:bodyPr wrap="square" lIns="0" tIns="0" rIns="0" bIns="0" rtlCol="0" anchor="t">
            <a:normAutofit/>
          </a:bodyPr>
          <a:lstStyle/>
          <a:p>
            <a:pPr algn="ctr" indent="0" marL="0">
              <a:lnSpc>
                <a:spcPts val="2899"/>
              </a:lnSpc>
              <a:buNone/>
            </a:pPr>
            <a:r>
              <a:rPr lang="en-US" sz="1300" b="1" dirty="0">
                <a:solidFill>
                  <a:srgbClr val="A94E16"/>
                </a:solidFill>
                <a:latin typeface="IBM Plex Sans" pitchFamily="34" charset="0"/>
                <a:ea typeface="IBM Plex Sans" pitchFamily="34" charset="-122"/>
                <a:cs typeface="IBM Plex Sans" pitchFamily="34" charset="-120"/>
              </a:rPr>
              <a:t>Model pool</a:t>
            </a:r>
            <a:endParaRPr lang="en-US" sz="1300" dirty="0"/>
          </a:p>
        </p:txBody>
      </p:sp>
      <p:pic>
        <p:nvPicPr>
          <p:cNvPr id="10" name="Image 0" descr="connector">    </p:cNvPr>
          <p:cNvPicPr>
            <a:picLocks noChangeAspect="1"/>
          </p:cNvPicPr>
          <p:nvPr/>
        </p:nvPicPr>
        <p:blipFill>
          <a:blip r:embed="rId1"/>
          <a:srcRect l="0" r="0" t="0" b="0"/>
          <a:stretch/>
        </p:blipFill>
        <p:spPr>
          <a:xfrm>
            <a:off x="1485900" y="1524000"/>
            <a:ext cx="76200" cy="4445000"/>
          </a:xfrm>
          <a:prstGeom prst="rect">
            <a:avLst/>
          </a:prstGeom>
        </p:spPr>
      </p:pic>
      <p:pic>
        <p:nvPicPr>
          <p:cNvPr id="11" name="Image 1" descr="connector">    </p:cNvPr>
          <p:cNvPicPr>
            <a:picLocks noChangeAspect="1"/>
          </p:cNvPicPr>
          <p:nvPr/>
        </p:nvPicPr>
        <p:blipFill>
          <a:blip r:embed="rId2"/>
          <a:srcRect l="0" r="0" t="0" b="0"/>
          <a:stretch/>
        </p:blipFill>
        <p:spPr>
          <a:xfrm>
            <a:off x="3314700" y="1524000"/>
            <a:ext cx="76200" cy="4445000"/>
          </a:xfrm>
          <a:prstGeom prst="rect">
            <a:avLst/>
          </a:prstGeom>
        </p:spPr>
      </p:pic>
      <p:pic>
        <p:nvPicPr>
          <p:cNvPr id="12" name="Image 2" descr="connector">    </p:cNvPr>
          <p:cNvPicPr>
            <a:picLocks noChangeAspect="1"/>
          </p:cNvPicPr>
          <p:nvPr/>
        </p:nvPicPr>
        <p:blipFill>
          <a:blip r:embed="rId3"/>
          <a:srcRect l="0" r="0" t="0" b="0"/>
          <a:stretch/>
        </p:blipFill>
        <p:spPr>
          <a:xfrm>
            <a:off x="5143500" y="1524000"/>
            <a:ext cx="76200" cy="4445000"/>
          </a:xfrm>
          <a:prstGeom prst="rect">
            <a:avLst/>
          </a:prstGeom>
        </p:spPr>
      </p:pic>
      <p:pic>
        <p:nvPicPr>
          <p:cNvPr id="13" name="Image 3" descr="connector">    </p:cNvPr>
          <p:cNvPicPr>
            <a:picLocks noChangeAspect="1"/>
          </p:cNvPicPr>
          <p:nvPr/>
        </p:nvPicPr>
        <p:blipFill>
          <a:blip r:embed="rId4"/>
          <a:srcRect l="0" r="0" t="0" b="0"/>
          <a:stretch/>
        </p:blipFill>
        <p:spPr>
          <a:xfrm>
            <a:off x="6972300" y="1524000"/>
            <a:ext cx="76200" cy="4445000"/>
          </a:xfrm>
          <a:prstGeom prst="rect">
            <a:avLst/>
          </a:prstGeom>
        </p:spPr>
      </p:pic>
      <p:pic>
        <p:nvPicPr>
          <p:cNvPr id="14" name="Image 4" descr="connector">    </p:cNvPr>
          <p:cNvPicPr>
            <a:picLocks noChangeAspect="1"/>
          </p:cNvPicPr>
          <p:nvPr/>
        </p:nvPicPr>
        <p:blipFill>
          <a:blip r:embed="rId5"/>
          <a:srcRect l="0" r="0" t="0" b="0"/>
          <a:stretch/>
        </p:blipFill>
        <p:spPr>
          <a:xfrm>
            <a:off x="8801100" y="1524000"/>
            <a:ext cx="76200" cy="4445000"/>
          </a:xfrm>
          <a:prstGeom prst="rect">
            <a:avLst/>
          </a:prstGeom>
        </p:spPr>
      </p:pic>
      <p:pic>
        <p:nvPicPr>
          <p:cNvPr id="15" name="Image 5" descr="connector">    </p:cNvPr>
          <p:cNvPicPr>
            <a:picLocks noChangeAspect="1"/>
          </p:cNvPicPr>
          <p:nvPr/>
        </p:nvPicPr>
        <p:blipFill>
          <a:blip r:embed="rId6"/>
          <a:srcRect l="0" r="0" t="0" b="0"/>
          <a:stretch/>
        </p:blipFill>
        <p:spPr>
          <a:xfrm>
            <a:off x="10629900" y="1524000"/>
            <a:ext cx="76200" cy="4445000"/>
          </a:xfrm>
          <a:prstGeom prst="rect">
            <a:avLst/>
          </a:prstGeom>
        </p:spPr>
      </p:pic>
      <p:pic>
        <p:nvPicPr>
          <p:cNvPr id="16" name="Image 6" descr="connector">    </p:cNvPr>
          <p:cNvPicPr>
            <a:picLocks noChangeAspect="1"/>
          </p:cNvPicPr>
          <p:nvPr/>
        </p:nvPicPr>
        <p:blipFill>
          <a:blip r:embed="rId7"/>
          <a:srcRect l="0" r="0" t="0" b="0"/>
          <a:stretch/>
        </p:blipFill>
        <p:spPr>
          <a:xfrm>
            <a:off x="1473200" y="1854200"/>
            <a:ext cx="1930400" cy="101600"/>
          </a:xfrm>
          <a:prstGeom prst="rect">
            <a:avLst/>
          </a:prstGeom>
        </p:spPr>
      </p:pic>
      <p:pic>
        <p:nvPicPr>
          <p:cNvPr id="17" name="Image 7" descr="connector">    </p:cNvPr>
          <p:cNvPicPr>
            <a:picLocks noChangeAspect="1"/>
          </p:cNvPicPr>
          <p:nvPr/>
        </p:nvPicPr>
        <p:blipFill>
          <a:blip r:embed="rId8"/>
          <a:srcRect l="0" r="0" t="0" b="0"/>
          <a:stretch/>
        </p:blipFill>
        <p:spPr>
          <a:xfrm>
            <a:off x="1473200" y="2171700"/>
            <a:ext cx="5588000" cy="101600"/>
          </a:xfrm>
          <a:prstGeom prst="rect">
            <a:avLst/>
          </a:prstGeom>
        </p:spPr>
      </p:pic>
      <p:pic>
        <p:nvPicPr>
          <p:cNvPr id="18" name="Image 8" descr="connector">    </p:cNvPr>
          <p:cNvPicPr>
            <a:picLocks noChangeAspect="1"/>
          </p:cNvPicPr>
          <p:nvPr/>
        </p:nvPicPr>
        <p:blipFill>
          <a:blip r:embed="rId9"/>
          <a:srcRect l="0" r="0" t="0" b="0"/>
          <a:stretch/>
        </p:blipFill>
        <p:spPr>
          <a:xfrm>
            <a:off x="1473200" y="2489200"/>
            <a:ext cx="5588000" cy="101600"/>
          </a:xfrm>
          <a:prstGeom prst="rect">
            <a:avLst/>
          </a:prstGeom>
        </p:spPr>
      </p:pic>
      <p:pic>
        <p:nvPicPr>
          <p:cNvPr id="19" name="Image 9" descr="connector">    </p:cNvPr>
          <p:cNvPicPr>
            <a:picLocks noChangeAspect="1"/>
          </p:cNvPicPr>
          <p:nvPr/>
        </p:nvPicPr>
        <p:blipFill>
          <a:blip r:embed="rId10"/>
          <a:srcRect l="0" r="0" t="0" b="0"/>
          <a:stretch/>
        </p:blipFill>
        <p:spPr>
          <a:xfrm>
            <a:off x="3302000" y="2806700"/>
            <a:ext cx="1930400" cy="101600"/>
          </a:xfrm>
          <a:prstGeom prst="rect">
            <a:avLst/>
          </a:prstGeom>
        </p:spPr>
      </p:pic>
      <p:pic>
        <p:nvPicPr>
          <p:cNvPr id="20" name="Image 10" descr="connector">    </p:cNvPr>
          <p:cNvPicPr>
            <a:picLocks noChangeAspect="1"/>
          </p:cNvPicPr>
          <p:nvPr/>
        </p:nvPicPr>
        <p:blipFill>
          <a:blip r:embed="rId11"/>
          <a:srcRect l="0" r="0" t="0" b="0"/>
          <a:stretch/>
        </p:blipFill>
        <p:spPr>
          <a:xfrm>
            <a:off x="3302000" y="3124200"/>
            <a:ext cx="1930400" cy="101600"/>
          </a:xfrm>
          <a:prstGeom prst="rect">
            <a:avLst/>
          </a:prstGeom>
        </p:spPr>
      </p:pic>
      <p:pic>
        <p:nvPicPr>
          <p:cNvPr id="21" name="Image 11" descr="connector">    </p:cNvPr>
          <p:cNvPicPr>
            <a:picLocks noChangeAspect="1"/>
          </p:cNvPicPr>
          <p:nvPr/>
        </p:nvPicPr>
        <p:blipFill>
          <a:blip r:embed="rId12"/>
          <a:srcRect l="0" r="0" t="0" b="0"/>
          <a:stretch/>
        </p:blipFill>
        <p:spPr>
          <a:xfrm>
            <a:off x="3302000" y="3441700"/>
            <a:ext cx="1930400" cy="101600"/>
          </a:xfrm>
          <a:prstGeom prst="rect">
            <a:avLst/>
          </a:prstGeom>
        </p:spPr>
      </p:pic>
      <p:pic>
        <p:nvPicPr>
          <p:cNvPr id="22" name="Image 12" descr="connector">    </p:cNvPr>
          <p:cNvPicPr>
            <a:picLocks noChangeAspect="1"/>
          </p:cNvPicPr>
          <p:nvPr/>
        </p:nvPicPr>
        <p:blipFill>
          <a:blip r:embed="rId13"/>
          <a:srcRect l="0" r="0" t="0" b="0"/>
          <a:stretch/>
        </p:blipFill>
        <p:spPr>
          <a:xfrm>
            <a:off x="3302000" y="3759200"/>
            <a:ext cx="1930400" cy="101600"/>
          </a:xfrm>
          <a:prstGeom prst="rect">
            <a:avLst/>
          </a:prstGeom>
        </p:spPr>
      </p:pic>
      <p:pic>
        <p:nvPicPr>
          <p:cNvPr id="23" name="Image 13" descr="connector">    </p:cNvPr>
          <p:cNvPicPr>
            <a:picLocks noChangeAspect="1"/>
          </p:cNvPicPr>
          <p:nvPr/>
        </p:nvPicPr>
        <p:blipFill>
          <a:blip r:embed="rId14"/>
          <a:srcRect l="0" r="0" t="0" b="0"/>
          <a:stretch/>
        </p:blipFill>
        <p:spPr>
          <a:xfrm>
            <a:off x="3302000" y="4076700"/>
            <a:ext cx="7416800" cy="101600"/>
          </a:xfrm>
          <a:prstGeom prst="rect">
            <a:avLst/>
          </a:prstGeom>
        </p:spPr>
      </p:pic>
      <p:pic>
        <p:nvPicPr>
          <p:cNvPr id="24" name="Image 14" descr="connector">    </p:cNvPr>
          <p:cNvPicPr>
            <a:picLocks noChangeAspect="1"/>
          </p:cNvPicPr>
          <p:nvPr/>
        </p:nvPicPr>
        <p:blipFill>
          <a:blip r:embed="rId15"/>
          <a:srcRect l="0" r="0" t="0" b="0"/>
          <a:stretch/>
        </p:blipFill>
        <p:spPr>
          <a:xfrm>
            <a:off x="1473200" y="4394200"/>
            <a:ext cx="1930400" cy="101600"/>
          </a:xfrm>
          <a:prstGeom prst="rect">
            <a:avLst/>
          </a:prstGeom>
        </p:spPr>
      </p:pic>
      <p:pic>
        <p:nvPicPr>
          <p:cNvPr id="25" name="Image 15" descr="connector">    </p:cNvPr>
          <p:cNvPicPr>
            <a:picLocks noChangeAspect="1"/>
          </p:cNvPicPr>
          <p:nvPr/>
        </p:nvPicPr>
        <p:blipFill>
          <a:blip r:embed="rId16"/>
          <a:srcRect l="0" r="0" t="0" b="0"/>
          <a:stretch/>
        </p:blipFill>
        <p:spPr>
          <a:xfrm>
            <a:off x="3302000" y="4711700"/>
            <a:ext cx="5588000" cy="101600"/>
          </a:xfrm>
          <a:prstGeom prst="rect">
            <a:avLst/>
          </a:prstGeom>
        </p:spPr>
      </p:pic>
      <p:pic>
        <p:nvPicPr>
          <p:cNvPr id="26" name="Image 16" descr="connector">    </p:cNvPr>
          <p:cNvPicPr>
            <a:picLocks noChangeAspect="1"/>
          </p:cNvPicPr>
          <p:nvPr/>
        </p:nvPicPr>
        <p:blipFill>
          <a:blip r:embed="rId17"/>
          <a:srcRect l="0" r="0" t="0" b="0"/>
          <a:stretch/>
        </p:blipFill>
        <p:spPr>
          <a:xfrm>
            <a:off x="8788400" y="5029200"/>
            <a:ext cx="1930400" cy="101600"/>
          </a:xfrm>
          <a:prstGeom prst="rect">
            <a:avLst/>
          </a:prstGeom>
        </p:spPr>
      </p:pic>
      <p:pic>
        <p:nvPicPr>
          <p:cNvPr id="27" name="Image 17" descr="connector">    </p:cNvPr>
          <p:cNvPicPr>
            <a:picLocks noChangeAspect="1"/>
          </p:cNvPicPr>
          <p:nvPr/>
        </p:nvPicPr>
        <p:blipFill>
          <a:blip r:embed="rId18"/>
          <a:srcRect l="0" r="0" t="0" b="0"/>
          <a:stretch/>
        </p:blipFill>
        <p:spPr>
          <a:xfrm>
            <a:off x="3302000" y="5346700"/>
            <a:ext cx="5588000" cy="101600"/>
          </a:xfrm>
          <a:prstGeom prst="rect">
            <a:avLst/>
          </a:prstGeom>
        </p:spPr>
      </p:pic>
      <p:pic>
        <p:nvPicPr>
          <p:cNvPr id="28" name="Image 18" descr="connector">    </p:cNvPr>
          <p:cNvPicPr>
            <a:picLocks noChangeAspect="1"/>
          </p:cNvPicPr>
          <p:nvPr/>
        </p:nvPicPr>
        <p:blipFill>
          <a:blip r:embed="rId19"/>
          <a:srcRect l="0" r="0" t="0" b="0"/>
          <a:stretch/>
        </p:blipFill>
        <p:spPr>
          <a:xfrm>
            <a:off x="3302000" y="5664200"/>
            <a:ext cx="3759200" cy="101600"/>
          </a:xfrm>
          <a:prstGeom prst="rect">
            <a:avLst/>
          </a:prstGeom>
        </p:spPr>
      </p:pic>
      <p:sp>
        <p:nvSpPr>
          <p:cNvPr id="29" name="Text 8"/>
          <p:cNvSpPr/>
          <p:nvPr/>
        </p:nvSpPr>
        <p:spPr>
          <a:xfrm>
            <a:off x="1600200" y="1676400"/>
            <a:ext cx="237490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13233F"/>
                </a:solidFill>
                <a:latin typeface="JetBrains Mono" pitchFamily="49" charset="0"/>
                <a:ea typeface="JetBrains Mono" pitchFamily="49" charset="-122"/>
                <a:cs typeface="JetBrains Mono" pitchFamily="49" charset="-120"/>
              </a:rPr>
              <a:t>1 scrape_event (request)</a:t>
            </a:r>
            <a:endParaRPr lang="en-US" sz="1200" dirty="0"/>
          </a:p>
        </p:txBody>
      </p:sp>
      <p:sp>
        <p:nvSpPr>
          <p:cNvPr id="30" name="Text 9"/>
          <p:cNvSpPr/>
          <p:nvPr/>
        </p:nvSpPr>
        <p:spPr>
          <a:xfrm>
            <a:off x="1600200" y="1993900"/>
            <a:ext cx="311785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13233F"/>
                </a:solidFill>
                <a:latin typeface="JetBrains Mono" pitchFamily="49" charset="0"/>
                <a:ea typeface="JetBrains Mono" pitchFamily="49" charset="-122"/>
                <a:cs typeface="JetBrains Mono" pitchFamily="49" charset="-120"/>
              </a:rPr>
              <a:t>2 brief_team_on_vendor (request)</a:t>
            </a:r>
            <a:endParaRPr lang="en-US" sz="1200" dirty="0"/>
          </a:p>
        </p:txBody>
      </p:sp>
      <p:sp>
        <p:nvSpPr>
          <p:cNvPr id="31" name="Text 10"/>
          <p:cNvSpPr/>
          <p:nvPr/>
        </p:nvSpPr>
        <p:spPr>
          <a:xfrm>
            <a:off x="1600200" y="2311400"/>
            <a:ext cx="394970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2B5C9E"/>
                </a:solidFill>
                <a:latin typeface="JetBrains Mono" pitchFamily="49" charset="0"/>
                <a:ea typeface="JetBrains Mono" pitchFamily="49" charset="-122"/>
                <a:cs typeface="JetBrains Mono" pitchFamily="49" charset="-120"/>
              </a:rPr>
              <a:t>3 vendor briefing, sent to the whole team</a:t>
            </a:r>
            <a:endParaRPr lang="en-US" sz="1200" dirty="0"/>
          </a:p>
        </p:txBody>
      </p:sp>
      <p:sp>
        <p:nvSpPr>
          <p:cNvPr id="32" name="Text 11"/>
          <p:cNvSpPr/>
          <p:nvPr/>
        </p:nvSpPr>
        <p:spPr>
          <a:xfrm>
            <a:off x="3429000" y="2628900"/>
            <a:ext cx="302260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13233F"/>
                </a:solidFill>
                <a:latin typeface="JetBrains Mono" pitchFamily="49" charset="0"/>
                <a:ea typeface="JetBrains Mono" pitchFamily="49" charset="-122"/>
                <a:cs typeface="JetBrains Mono" pitchFamily="49" charset="-120"/>
              </a:rPr>
              <a:t>4 GET home page, find nav links</a:t>
            </a:r>
            <a:endParaRPr lang="en-US" sz="1200" dirty="0"/>
          </a:p>
        </p:txBody>
      </p:sp>
      <p:sp>
        <p:nvSpPr>
          <p:cNvPr id="33" name="Text 12"/>
          <p:cNvSpPr/>
          <p:nvPr/>
        </p:nvSpPr>
        <p:spPr>
          <a:xfrm>
            <a:off x="3429000" y="2946400"/>
            <a:ext cx="330200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2B5C9E"/>
                </a:solidFill>
                <a:latin typeface="JetBrains Mono" pitchFamily="49" charset="0"/>
                <a:ea typeface="JetBrains Mono" pitchFamily="49" charset="-122"/>
                <a:cs typeface="JetBrains Mono" pitchFamily="49" charset="-120"/>
              </a:rPr>
              <a:t>5 HTML; status, time, SHA-256 kept</a:t>
            </a:r>
            <a:endParaRPr lang="en-US" sz="1200" dirty="0"/>
          </a:p>
        </p:txBody>
      </p:sp>
      <p:sp>
        <p:nvSpPr>
          <p:cNvPr id="34" name="Text 13"/>
          <p:cNvSpPr/>
          <p:nvPr/>
        </p:nvSpPr>
        <p:spPr>
          <a:xfrm>
            <a:off x="3429000" y="3263900"/>
            <a:ext cx="404495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13233F"/>
                </a:solidFill>
                <a:latin typeface="JetBrains Mono" pitchFamily="49" charset="0"/>
                <a:ea typeface="JetBrains Mono" pitchFamily="49" charset="-122"/>
                <a:cs typeface="JetBrains Mono" pitchFamily="49" charset="-120"/>
              </a:rPr>
              <a:t>6 /speakers empty -&gt; follow /speakers/2026</a:t>
            </a:r>
            <a:endParaRPr lang="en-US" sz="1200" dirty="0"/>
          </a:p>
        </p:txBody>
      </p:sp>
      <p:sp>
        <p:nvSpPr>
          <p:cNvPr id="35" name="Text 14"/>
          <p:cNvSpPr/>
          <p:nvPr/>
        </p:nvSpPr>
        <p:spPr>
          <a:xfrm>
            <a:off x="3429000" y="3581400"/>
            <a:ext cx="348615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2B5C9E"/>
                </a:solidFill>
                <a:latin typeface="JetBrains Mono" pitchFamily="49" charset="0"/>
                <a:ea typeface="JetBrains Mono" pitchFamily="49" charset="-122"/>
                <a:cs typeface="JetBrains Mono" pitchFamily="49" charset="-120"/>
              </a:rPr>
              <a:t>7 121 speakers, sponsor + logo walls</a:t>
            </a:r>
            <a:endParaRPr lang="en-US" sz="1200" dirty="0"/>
          </a:p>
        </p:txBody>
      </p:sp>
      <p:sp>
        <p:nvSpPr>
          <p:cNvPr id="36" name="Text 15"/>
          <p:cNvSpPr/>
          <p:nvPr/>
        </p:nvSpPr>
        <p:spPr>
          <a:xfrm>
            <a:off x="3429000" y="3898900"/>
            <a:ext cx="376555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A94E16"/>
                </a:solidFill>
                <a:latin typeface="JetBrains Mono" pitchFamily="49" charset="0"/>
                <a:ea typeface="JetBrains Mono" pitchFamily="49" charset="-122"/>
                <a:cs typeface="JetBrains Mono" pitchFamily="49" charset="-120"/>
              </a:rPr>
              <a:t>8 name logos that have no text (vision)</a:t>
            </a:r>
            <a:endParaRPr lang="en-US" sz="1200" dirty="0"/>
          </a:p>
        </p:txBody>
      </p:sp>
      <p:sp>
        <p:nvSpPr>
          <p:cNvPr id="37" name="Text 16"/>
          <p:cNvSpPr/>
          <p:nvPr/>
        </p:nvSpPr>
        <p:spPr>
          <a:xfrm>
            <a:off x="1600200" y="4216400"/>
            <a:ext cx="358140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2B5C9E"/>
                </a:solidFill>
                <a:latin typeface="JetBrains Mono" pitchFamily="49" charset="0"/>
                <a:ea typeface="JetBrains Mono" pitchFamily="49" charset="-122"/>
                <a:cs typeface="JetBrains Mono" pitchFamily="49" charset="-120"/>
              </a:rPr>
              <a:t>9 reply: 119 companies, capture saved</a:t>
            </a:r>
            <a:endParaRPr lang="en-US" sz="1200" dirty="0"/>
          </a:p>
        </p:txBody>
      </p:sp>
      <p:sp>
        <p:nvSpPr>
          <p:cNvPr id="38" name="Text 17"/>
          <p:cNvSpPr/>
          <p:nvPr/>
        </p:nvSpPr>
        <p:spPr>
          <a:xfrm>
            <a:off x="3429000" y="4533900"/>
            <a:ext cx="283845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13233F"/>
                </a:solidFill>
                <a:latin typeface="JetBrains Mono" pitchFamily="49" charset="0"/>
                <a:ea typeface="JetBrains Mono" pitchFamily="49" charset="-122"/>
                <a:cs typeface="JetBrains Mono" pitchFamily="49" charset="-120"/>
              </a:rPr>
              <a:t>10 ask: triage_accounts (119)</a:t>
            </a:r>
            <a:endParaRPr lang="en-US" sz="1200" dirty="0"/>
          </a:p>
        </p:txBody>
      </p:sp>
      <p:sp>
        <p:nvSpPr>
          <p:cNvPr id="39" name="Text 18"/>
          <p:cNvSpPr/>
          <p:nvPr/>
        </p:nvSpPr>
        <p:spPr>
          <a:xfrm>
            <a:off x="8915400" y="4851400"/>
            <a:ext cx="219075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A94E16"/>
                </a:solidFill>
                <a:latin typeface="JetBrains Mono" pitchFamily="49" charset="0"/>
                <a:ea typeface="JetBrains Mono" pitchFamily="49" charset="-122"/>
                <a:cs typeface="JetBrains Mono" pitchFamily="49" charset="-120"/>
              </a:rPr>
              <a:t>11 triage, 25 per call</a:t>
            </a:r>
            <a:endParaRPr lang="en-US" sz="1200" dirty="0"/>
          </a:p>
        </p:txBody>
      </p:sp>
      <p:sp>
        <p:nvSpPr>
          <p:cNvPr id="40" name="Text 19"/>
          <p:cNvSpPr/>
          <p:nvPr/>
        </p:nvSpPr>
        <p:spPr>
          <a:xfrm>
            <a:off x="3429000" y="5168900"/>
            <a:ext cx="339725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2B5C9E"/>
                </a:solidFill>
                <a:latin typeface="JetBrains Mono" pitchFamily="49" charset="0"/>
                <a:ea typeface="JetBrains Mono" pitchFamily="49" charset="-122"/>
                <a:cs typeface="JetBrains Mono" pitchFamily="49" charset="-120"/>
              </a:rPr>
              <a:t>12 reply: research 76, set 43 aside</a:t>
            </a:r>
            <a:endParaRPr lang="en-US" sz="1200" dirty="0"/>
          </a:p>
        </p:txBody>
      </p:sp>
      <p:sp>
        <p:nvSpPr>
          <p:cNvPr id="41" name="Text 20"/>
          <p:cNvSpPr/>
          <p:nvPr/>
        </p:nvSpPr>
        <p:spPr>
          <a:xfrm>
            <a:off x="3429000" y="5486400"/>
            <a:ext cx="320675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13233F"/>
                </a:solidFill>
                <a:latin typeface="JetBrains Mono" pitchFamily="49" charset="0"/>
                <a:ea typeface="JetBrains Mono" pitchFamily="49" charset="-122"/>
                <a:cs typeface="JetBrains Mono" pitchFamily="49" charset="-120"/>
              </a:rPr>
              <a:t>13 handoff: research_account x 76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609600" y="431800"/>
            <a:ext cx="11301984" cy="402564"/>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13233F"/>
                </a:solidFill>
                <a:latin typeface="IBM Plex Sans" pitchFamily="34" charset="0"/>
                <a:ea typeface="IBM Plex Sans" pitchFamily="34" charset="-122"/>
                <a:cs typeface="IBM Plex Sans" pitchFamily="34" charset="-120"/>
              </a:rPr>
              <a:t>Sequence 2 of 2: research, score, plan, report</a:t>
            </a:r>
            <a:endParaRPr lang="en-US" sz="2700" dirty="0"/>
          </a:p>
        </p:txBody>
      </p:sp>
      <p:sp>
        <p:nvSpPr>
          <p:cNvPr id="3" name="Text 1"/>
          <p:cNvSpPr/>
          <p:nvPr/>
        </p:nvSpPr>
        <p:spPr>
          <a:xfrm>
            <a:off x="609600" y="8763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Runs for every account, up to 12 at once; the totals and tiers are computed in code, never by the model.</a:t>
            </a:r>
            <a:endParaRPr lang="en-US" sz="1200" dirty="0"/>
          </a:p>
        </p:txBody>
      </p:sp>
      <p:sp>
        <p:nvSpPr>
          <p:cNvPr id="4" name="Text 2"/>
          <p:cNvSpPr/>
          <p:nvPr/>
        </p:nvSpPr>
        <p:spPr>
          <a:xfrm>
            <a:off x="685800" y="1193800"/>
            <a:ext cx="1409700" cy="368168"/>
          </a:xfrm>
          <a:custGeom>
            <a:avLst/>
            <a:gdLst/>
            <a:ahLst/>
            <a:cxnLst/>
            <a:rect l="l" t="t" r="r" b="b"/>
            <a:pathLst>
              <a:path w="1409700" h="368168">
                <a:moveTo>
                  <a:pt x="76200" y="0"/>
                </a:moveTo>
                <a:lnTo>
                  <a:pt x="1333500" y="0"/>
                </a:lnTo>
                <a:arcTo hR="76200" wR="76200" stAng="16200000" swAng="5400000"/>
                <a:lnTo>
                  <a:pt x="1409700" y="291968"/>
                </a:lnTo>
                <a:arcTo hR="76200" wR="76200" stAng="0" swAng="5400000"/>
                <a:lnTo>
                  <a:pt x="76200" y="368168"/>
                </a:lnTo>
                <a:arcTo hR="76200" wR="76200" stAng="5400000" swAng="5400000"/>
                <a:lnTo>
                  <a:pt x="0" y="76200"/>
                </a:lnTo>
                <a:arcTo hR="76200" wR="76200" stAng="10800000" swAng="5400000"/>
                <a:close/>
              </a:path>
            </a:pathLst>
          </a:custGeom>
          <a:solidFill>
            <a:srgbClr val="13233F"/>
          </a:solidFill>
          <a:ln/>
        </p:spPr>
        <p:txBody>
          <a:bodyPr wrap="square" lIns="0" tIns="0" rIns="0" bIns="0" rtlCol="0" anchor="t">
            <a:normAutofit/>
          </a:bodyPr>
          <a:lstStyle/>
          <a:p>
            <a:pPr algn="ctr" indent="0" marL="0">
              <a:lnSpc>
                <a:spcPts val="2899"/>
              </a:lnSpc>
              <a:buNone/>
            </a:pPr>
            <a:r>
              <a:rPr lang="en-US" sz="1300" b="1" dirty="0">
                <a:solidFill>
                  <a:srgbClr val="F6F5F0"/>
                </a:solidFill>
                <a:latin typeface="IBM Plex Sans" pitchFamily="34" charset="0"/>
                <a:ea typeface="IBM Plex Sans" pitchFamily="34" charset="-122"/>
                <a:cs typeface="IBM Plex Sans" pitchFamily="34" charset="-120"/>
              </a:rPr>
              <a:t>Researcher</a:t>
            </a:r>
            <a:endParaRPr lang="en-US" sz="1300" dirty="0"/>
          </a:p>
        </p:txBody>
      </p:sp>
      <p:sp>
        <p:nvSpPr>
          <p:cNvPr id="5" name="Text 3"/>
          <p:cNvSpPr/>
          <p:nvPr/>
        </p:nvSpPr>
        <p:spPr>
          <a:xfrm>
            <a:off x="2254250" y="1193800"/>
            <a:ext cx="1409700" cy="368168"/>
          </a:xfrm>
          <a:custGeom>
            <a:avLst/>
            <a:gdLst/>
            <a:ahLst/>
            <a:cxnLst/>
            <a:rect l="l" t="t" r="r" b="b"/>
            <a:pathLst>
              <a:path w="1409700" h="368168">
                <a:moveTo>
                  <a:pt x="76200" y="0"/>
                </a:moveTo>
                <a:lnTo>
                  <a:pt x="1333500" y="0"/>
                </a:lnTo>
                <a:arcTo hR="76200" wR="76200" stAng="16200000" swAng="5400000"/>
                <a:lnTo>
                  <a:pt x="1409700" y="291968"/>
                </a:lnTo>
                <a:arcTo hR="76200" wR="76200" stAng="0" swAng="5400000"/>
                <a:lnTo>
                  <a:pt x="76200" y="368168"/>
                </a:lnTo>
                <a:arcTo hR="76200" wR="76200" stAng="5400000" swAng="5400000"/>
                <a:lnTo>
                  <a:pt x="0" y="76200"/>
                </a:lnTo>
                <a:arcTo hR="76200" wR="76200" stAng="10800000" swAng="5400000"/>
                <a:close/>
              </a:path>
            </a:pathLst>
          </a:custGeom>
          <a:solidFill>
            <a:srgbClr val="E3E8EF"/>
          </a:solidFill>
          <a:ln/>
        </p:spPr>
        <p:txBody>
          <a:bodyPr wrap="square" lIns="0" tIns="0" rIns="0" bIns="0" rtlCol="0" anchor="t">
            <a:normAutofit/>
          </a:bodyPr>
          <a:lstStyle/>
          <a:p>
            <a:pPr algn="ctr" indent="0" marL="0">
              <a:lnSpc>
                <a:spcPts val="2899"/>
              </a:lnSpc>
              <a:buNone/>
            </a:pPr>
            <a:r>
              <a:rPr lang="en-US" sz="1300" b="1" dirty="0">
                <a:solidFill>
                  <a:srgbClr val="13233F"/>
                </a:solidFill>
                <a:latin typeface="IBM Plex Sans" pitchFamily="34" charset="0"/>
                <a:ea typeface="IBM Plex Sans" pitchFamily="34" charset="-122"/>
                <a:cs typeface="IBM Plex Sans" pitchFamily="34" charset="-120"/>
              </a:rPr>
              <a:t>Web search</a:t>
            </a:r>
            <a:endParaRPr lang="en-US" sz="1300" dirty="0"/>
          </a:p>
        </p:txBody>
      </p:sp>
      <p:sp>
        <p:nvSpPr>
          <p:cNvPr id="6" name="Text 4"/>
          <p:cNvSpPr/>
          <p:nvPr/>
        </p:nvSpPr>
        <p:spPr>
          <a:xfrm>
            <a:off x="3822700" y="1193800"/>
            <a:ext cx="1409700" cy="368168"/>
          </a:xfrm>
          <a:custGeom>
            <a:avLst/>
            <a:gdLst/>
            <a:ahLst/>
            <a:cxnLst/>
            <a:rect l="l" t="t" r="r" b="b"/>
            <a:pathLst>
              <a:path w="1409700" h="368168">
                <a:moveTo>
                  <a:pt x="76200" y="0"/>
                </a:moveTo>
                <a:lnTo>
                  <a:pt x="1333500" y="0"/>
                </a:lnTo>
                <a:arcTo hR="76200" wR="76200" stAng="16200000" swAng="5400000"/>
                <a:lnTo>
                  <a:pt x="1409700" y="291968"/>
                </a:lnTo>
                <a:arcTo hR="76200" wR="76200" stAng="0" swAng="5400000"/>
                <a:lnTo>
                  <a:pt x="76200" y="368168"/>
                </a:lnTo>
                <a:arcTo hR="76200" wR="76200" stAng="5400000" swAng="5400000"/>
                <a:lnTo>
                  <a:pt x="0" y="76200"/>
                </a:lnTo>
                <a:arcTo hR="76200" wR="76200" stAng="10800000" swAng="5400000"/>
                <a:close/>
              </a:path>
            </a:pathLst>
          </a:custGeom>
          <a:solidFill>
            <a:srgbClr val="FCE9DC"/>
          </a:solidFill>
          <a:ln/>
        </p:spPr>
        <p:txBody>
          <a:bodyPr wrap="square" lIns="0" tIns="0" rIns="0" bIns="0" rtlCol="0" anchor="t">
            <a:normAutofit/>
          </a:bodyPr>
          <a:lstStyle/>
          <a:p>
            <a:pPr algn="ctr" indent="0" marL="0">
              <a:lnSpc>
                <a:spcPts val="2899"/>
              </a:lnSpc>
              <a:buNone/>
            </a:pPr>
            <a:r>
              <a:rPr lang="en-US" sz="1300" b="1" dirty="0">
                <a:solidFill>
                  <a:srgbClr val="A94E16"/>
                </a:solidFill>
                <a:latin typeface="IBM Plex Sans" pitchFamily="34" charset="0"/>
                <a:ea typeface="IBM Plex Sans" pitchFamily="34" charset="-122"/>
                <a:cs typeface="IBM Plex Sans" pitchFamily="34" charset="-120"/>
              </a:rPr>
              <a:t>Model pool</a:t>
            </a:r>
            <a:endParaRPr lang="en-US" sz="1300" dirty="0"/>
          </a:p>
        </p:txBody>
      </p:sp>
      <p:sp>
        <p:nvSpPr>
          <p:cNvPr id="7" name="Text 5"/>
          <p:cNvSpPr/>
          <p:nvPr/>
        </p:nvSpPr>
        <p:spPr>
          <a:xfrm>
            <a:off x="5391150" y="1193800"/>
            <a:ext cx="1409700" cy="368168"/>
          </a:xfrm>
          <a:custGeom>
            <a:avLst/>
            <a:gdLst/>
            <a:ahLst/>
            <a:cxnLst/>
            <a:rect l="l" t="t" r="r" b="b"/>
            <a:pathLst>
              <a:path w="1409700" h="368168">
                <a:moveTo>
                  <a:pt x="76200" y="0"/>
                </a:moveTo>
                <a:lnTo>
                  <a:pt x="1333500" y="0"/>
                </a:lnTo>
                <a:arcTo hR="76200" wR="76200" stAng="16200000" swAng="5400000"/>
                <a:lnTo>
                  <a:pt x="1409700" y="291968"/>
                </a:lnTo>
                <a:arcTo hR="76200" wR="76200" stAng="0" swAng="5400000"/>
                <a:lnTo>
                  <a:pt x="76200" y="368168"/>
                </a:lnTo>
                <a:arcTo hR="76200" wR="76200" stAng="5400000" swAng="5400000"/>
                <a:lnTo>
                  <a:pt x="0" y="76200"/>
                </a:lnTo>
                <a:arcTo hR="76200" wR="76200" stAng="10800000" swAng="5400000"/>
                <a:close/>
              </a:path>
            </a:pathLst>
          </a:custGeom>
          <a:solidFill>
            <a:srgbClr val="13233F"/>
          </a:solidFill>
          <a:ln/>
        </p:spPr>
        <p:txBody>
          <a:bodyPr wrap="square" lIns="0" tIns="0" rIns="0" bIns="0" rtlCol="0" anchor="t">
            <a:normAutofit/>
          </a:bodyPr>
          <a:lstStyle/>
          <a:p>
            <a:pPr algn="ctr" indent="0" marL="0">
              <a:lnSpc>
                <a:spcPts val="2899"/>
              </a:lnSpc>
              <a:buNone/>
            </a:pPr>
            <a:r>
              <a:rPr lang="en-US" sz="1300" b="1" dirty="0">
                <a:solidFill>
                  <a:srgbClr val="F6F5F0"/>
                </a:solidFill>
                <a:latin typeface="IBM Plex Sans" pitchFamily="34" charset="0"/>
                <a:ea typeface="IBM Plex Sans" pitchFamily="34" charset="-122"/>
                <a:cs typeface="IBM Plex Sans" pitchFamily="34" charset="-120"/>
              </a:rPr>
              <a:t>Analyst</a:t>
            </a:r>
            <a:endParaRPr lang="en-US" sz="1300" dirty="0"/>
          </a:p>
        </p:txBody>
      </p:sp>
      <p:sp>
        <p:nvSpPr>
          <p:cNvPr id="8" name="Text 6"/>
          <p:cNvSpPr/>
          <p:nvPr/>
        </p:nvSpPr>
        <p:spPr>
          <a:xfrm>
            <a:off x="6959600" y="1193800"/>
            <a:ext cx="1409700" cy="368168"/>
          </a:xfrm>
          <a:custGeom>
            <a:avLst/>
            <a:gdLst/>
            <a:ahLst/>
            <a:cxnLst/>
            <a:rect l="l" t="t" r="r" b="b"/>
            <a:pathLst>
              <a:path w="1409700" h="368168">
                <a:moveTo>
                  <a:pt x="76200" y="0"/>
                </a:moveTo>
                <a:lnTo>
                  <a:pt x="1333500" y="0"/>
                </a:lnTo>
                <a:arcTo hR="76200" wR="76200" stAng="16200000" swAng="5400000"/>
                <a:lnTo>
                  <a:pt x="1409700" y="291968"/>
                </a:lnTo>
                <a:arcTo hR="76200" wR="76200" stAng="0" swAng="5400000"/>
                <a:lnTo>
                  <a:pt x="76200" y="368168"/>
                </a:lnTo>
                <a:arcTo hR="76200" wR="76200" stAng="5400000" swAng="5400000"/>
                <a:lnTo>
                  <a:pt x="0" y="76200"/>
                </a:lnTo>
                <a:arcTo hR="76200" wR="76200" stAng="10800000" swAng="5400000"/>
                <a:close/>
              </a:path>
            </a:pathLst>
          </a:custGeom>
          <a:solidFill>
            <a:srgbClr val="13233F"/>
          </a:solidFill>
          <a:ln/>
        </p:spPr>
        <p:txBody>
          <a:bodyPr wrap="square" lIns="0" tIns="0" rIns="0" bIns="0" rtlCol="0" anchor="t">
            <a:normAutofit/>
          </a:bodyPr>
          <a:lstStyle/>
          <a:p>
            <a:pPr algn="ctr" indent="0" marL="0">
              <a:lnSpc>
                <a:spcPts val="2899"/>
              </a:lnSpc>
              <a:buNone/>
            </a:pPr>
            <a:r>
              <a:rPr lang="en-US" sz="1300" b="1" dirty="0">
                <a:solidFill>
                  <a:srgbClr val="F6F5F0"/>
                </a:solidFill>
                <a:latin typeface="IBM Plex Sans" pitchFamily="34" charset="0"/>
                <a:ea typeface="IBM Plex Sans" pitchFamily="34" charset="-122"/>
                <a:cs typeface="IBM Plex Sans" pitchFamily="34" charset="-120"/>
              </a:rPr>
              <a:t>Strategist</a:t>
            </a:r>
            <a:endParaRPr lang="en-US" sz="1300" dirty="0"/>
          </a:p>
        </p:txBody>
      </p:sp>
      <p:sp>
        <p:nvSpPr>
          <p:cNvPr id="9" name="Text 7"/>
          <p:cNvSpPr/>
          <p:nvPr/>
        </p:nvSpPr>
        <p:spPr>
          <a:xfrm>
            <a:off x="8528050" y="1193800"/>
            <a:ext cx="1409700" cy="368168"/>
          </a:xfrm>
          <a:custGeom>
            <a:avLst/>
            <a:gdLst/>
            <a:ahLst/>
            <a:cxnLst/>
            <a:rect l="l" t="t" r="r" b="b"/>
            <a:pathLst>
              <a:path w="1409700" h="368168">
                <a:moveTo>
                  <a:pt x="76200" y="0"/>
                </a:moveTo>
                <a:lnTo>
                  <a:pt x="1333500" y="0"/>
                </a:lnTo>
                <a:arcTo hR="76200" wR="76200" stAng="16200000" swAng="5400000"/>
                <a:lnTo>
                  <a:pt x="1409700" y="291968"/>
                </a:lnTo>
                <a:arcTo hR="76200" wR="76200" stAng="0" swAng="5400000"/>
                <a:lnTo>
                  <a:pt x="76200" y="368168"/>
                </a:lnTo>
                <a:arcTo hR="76200" wR="76200" stAng="5400000" swAng="5400000"/>
                <a:lnTo>
                  <a:pt x="0" y="76200"/>
                </a:lnTo>
                <a:arcTo hR="76200" wR="76200" stAng="10800000" swAng="5400000"/>
                <a:close/>
              </a:path>
            </a:pathLst>
          </a:custGeom>
          <a:solidFill>
            <a:srgbClr val="13233F"/>
          </a:solidFill>
          <a:ln/>
        </p:spPr>
        <p:txBody>
          <a:bodyPr wrap="square" lIns="0" tIns="0" rIns="0" bIns="0" rtlCol="0" anchor="t">
            <a:normAutofit/>
          </a:bodyPr>
          <a:lstStyle/>
          <a:p>
            <a:pPr algn="ctr" indent="0" marL="0">
              <a:lnSpc>
                <a:spcPts val="2899"/>
              </a:lnSpc>
              <a:buNone/>
            </a:pPr>
            <a:r>
              <a:rPr lang="en-US" sz="1300" b="1" dirty="0">
                <a:solidFill>
                  <a:srgbClr val="F6F5F0"/>
                </a:solidFill>
                <a:latin typeface="IBM Plex Sans" pitchFamily="34" charset="0"/>
                <a:ea typeface="IBM Plex Sans" pitchFamily="34" charset="-122"/>
                <a:cs typeface="IBM Plex Sans" pitchFamily="34" charset="-120"/>
              </a:rPr>
              <a:t>Coordinator</a:t>
            </a:r>
            <a:endParaRPr lang="en-US" sz="1300" dirty="0"/>
          </a:p>
        </p:txBody>
      </p:sp>
      <p:sp>
        <p:nvSpPr>
          <p:cNvPr id="10" name="Text 8"/>
          <p:cNvSpPr/>
          <p:nvPr/>
        </p:nvSpPr>
        <p:spPr>
          <a:xfrm>
            <a:off x="10096500" y="1193800"/>
            <a:ext cx="1409700" cy="368168"/>
          </a:xfrm>
          <a:custGeom>
            <a:avLst/>
            <a:gdLst/>
            <a:ahLst/>
            <a:cxnLst/>
            <a:rect l="l" t="t" r="r" b="b"/>
            <a:pathLst>
              <a:path w="1409700" h="368168">
                <a:moveTo>
                  <a:pt x="76200" y="0"/>
                </a:moveTo>
                <a:lnTo>
                  <a:pt x="1333500" y="0"/>
                </a:lnTo>
                <a:arcTo hR="76200" wR="76200" stAng="16200000" swAng="5400000"/>
                <a:lnTo>
                  <a:pt x="1409700" y="291968"/>
                </a:lnTo>
                <a:arcTo hR="76200" wR="76200" stAng="0" swAng="5400000"/>
                <a:lnTo>
                  <a:pt x="76200" y="368168"/>
                </a:lnTo>
                <a:arcTo hR="76200" wR="76200" stAng="5400000" swAng="5400000"/>
                <a:lnTo>
                  <a:pt x="0" y="76200"/>
                </a:lnTo>
                <a:arcTo hR="76200" wR="76200" stAng="10800000" swAng="5400000"/>
                <a:close/>
              </a:path>
            </a:pathLst>
          </a:custGeom>
          <a:solidFill>
            <a:srgbClr val="13233F"/>
          </a:solidFill>
          <a:ln/>
        </p:spPr>
        <p:txBody>
          <a:bodyPr wrap="square" lIns="0" tIns="0" rIns="0" bIns="0" rtlCol="0" anchor="t">
            <a:normAutofit/>
          </a:bodyPr>
          <a:lstStyle/>
          <a:p>
            <a:pPr algn="ctr" indent="0" marL="0">
              <a:lnSpc>
                <a:spcPts val="2899"/>
              </a:lnSpc>
              <a:buNone/>
            </a:pPr>
            <a:r>
              <a:rPr lang="en-US" sz="1300" b="1" dirty="0">
                <a:solidFill>
                  <a:srgbClr val="F6F5F0"/>
                </a:solidFill>
                <a:latin typeface="IBM Plex Sans" pitchFamily="34" charset="0"/>
                <a:ea typeface="IBM Plex Sans" pitchFamily="34" charset="-122"/>
                <a:cs typeface="IBM Plex Sans" pitchFamily="34" charset="-120"/>
              </a:rPr>
              <a:t>Reporter</a:t>
            </a:r>
            <a:endParaRPr lang="en-US" sz="1300" dirty="0"/>
          </a:p>
        </p:txBody>
      </p:sp>
      <p:pic>
        <p:nvPicPr>
          <p:cNvPr id="11" name="Image 0" descr="connector">    </p:cNvPr>
          <p:cNvPicPr>
            <a:picLocks noChangeAspect="1"/>
          </p:cNvPicPr>
          <p:nvPr/>
        </p:nvPicPr>
        <p:blipFill>
          <a:blip r:embed="rId1"/>
          <a:srcRect l="0" r="0" t="0" b="0"/>
          <a:stretch/>
        </p:blipFill>
        <p:spPr>
          <a:xfrm>
            <a:off x="1352550" y="1524000"/>
            <a:ext cx="76200" cy="4546600"/>
          </a:xfrm>
          <a:prstGeom prst="rect">
            <a:avLst/>
          </a:prstGeom>
        </p:spPr>
      </p:pic>
      <p:pic>
        <p:nvPicPr>
          <p:cNvPr id="12" name="Image 1" descr="connector">    </p:cNvPr>
          <p:cNvPicPr>
            <a:picLocks noChangeAspect="1"/>
          </p:cNvPicPr>
          <p:nvPr/>
        </p:nvPicPr>
        <p:blipFill>
          <a:blip r:embed="rId2"/>
          <a:srcRect l="0" r="0" t="0" b="0"/>
          <a:stretch/>
        </p:blipFill>
        <p:spPr>
          <a:xfrm>
            <a:off x="2921000" y="1524000"/>
            <a:ext cx="76200" cy="4546600"/>
          </a:xfrm>
          <a:prstGeom prst="rect">
            <a:avLst/>
          </a:prstGeom>
        </p:spPr>
      </p:pic>
      <p:pic>
        <p:nvPicPr>
          <p:cNvPr id="13" name="Image 2" descr="connector">    </p:cNvPr>
          <p:cNvPicPr>
            <a:picLocks noChangeAspect="1"/>
          </p:cNvPicPr>
          <p:nvPr/>
        </p:nvPicPr>
        <p:blipFill>
          <a:blip r:embed="rId3"/>
          <a:srcRect l="0" r="0" t="0" b="0"/>
          <a:stretch/>
        </p:blipFill>
        <p:spPr>
          <a:xfrm>
            <a:off x="4489450" y="1524000"/>
            <a:ext cx="76200" cy="4546600"/>
          </a:xfrm>
          <a:prstGeom prst="rect">
            <a:avLst/>
          </a:prstGeom>
        </p:spPr>
      </p:pic>
      <p:pic>
        <p:nvPicPr>
          <p:cNvPr id="14" name="Image 3" descr="connector">    </p:cNvPr>
          <p:cNvPicPr>
            <a:picLocks noChangeAspect="1"/>
          </p:cNvPicPr>
          <p:nvPr/>
        </p:nvPicPr>
        <p:blipFill>
          <a:blip r:embed="rId4"/>
          <a:srcRect l="0" r="0" t="0" b="0"/>
          <a:stretch/>
        </p:blipFill>
        <p:spPr>
          <a:xfrm>
            <a:off x="6057900" y="1524000"/>
            <a:ext cx="76200" cy="4546600"/>
          </a:xfrm>
          <a:prstGeom prst="rect">
            <a:avLst/>
          </a:prstGeom>
        </p:spPr>
      </p:pic>
      <p:pic>
        <p:nvPicPr>
          <p:cNvPr id="15" name="Image 4" descr="connector">    </p:cNvPr>
          <p:cNvPicPr>
            <a:picLocks noChangeAspect="1"/>
          </p:cNvPicPr>
          <p:nvPr/>
        </p:nvPicPr>
        <p:blipFill>
          <a:blip r:embed="rId5"/>
          <a:srcRect l="0" r="0" t="0" b="0"/>
          <a:stretch/>
        </p:blipFill>
        <p:spPr>
          <a:xfrm>
            <a:off x="7626350" y="1524000"/>
            <a:ext cx="76200" cy="4546600"/>
          </a:xfrm>
          <a:prstGeom prst="rect">
            <a:avLst/>
          </a:prstGeom>
        </p:spPr>
      </p:pic>
      <p:pic>
        <p:nvPicPr>
          <p:cNvPr id="16" name="Image 5" descr="connector">    </p:cNvPr>
          <p:cNvPicPr>
            <a:picLocks noChangeAspect="1"/>
          </p:cNvPicPr>
          <p:nvPr/>
        </p:nvPicPr>
        <p:blipFill>
          <a:blip r:embed="rId6"/>
          <a:srcRect l="0" r="0" t="0" b="0"/>
          <a:stretch/>
        </p:blipFill>
        <p:spPr>
          <a:xfrm>
            <a:off x="9194800" y="1524000"/>
            <a:ext cx="76200" cy="4546600"/>
          </a:xfrm>
          <a:prstGeom prst="rect">
            <a:avLst/>
          </a:prstGeom>
        </p:spPr>
      </p:pic>
      <p:pic>
        <p:nvPicPr>
          <p:cNvPr id="17" name="Image 6" descr="connector">    </p:cNvPr>
          <p:cNvPicPr>
            <a:picLocks noChangeAspect="1"/>
          </p:cNvPicPr>
          <p:nvPr/>
        </p:nvPicPr>
        <p:blipFill>
          <a:blip r:embed="rId7"/>
          <a:srcRect l="0" r="0" t="0" b="0"/>
          <a:stretch/>
        </p:blipFill>
        <p:spPr>
          <a:xfrm>
            <a:off x="10763250" y="1524000"/>
            <a:ext cx="76200" cy="4546600"/>
          </a:xfrm>
          <a:prstGeom prst="rect">
            <a:avLst/>
          </a:prstGeom>
        </p:spPr>
      </p:pic>
      <p:pic>
        <p:nvPicPr>
          <p:cNvPr id="18" name="Image 7" descr="connector">    </p:cNvPr>
          <p:cNvPicPr>
            <a:picLocks noChangeAspect="1"/>
          </p:cNvPicPr>
          <p:nvPr/>
        </p:nvPicPr>
        <p:blipFill>
          <a:blip r:embed="rId8"/>
          <a:srcRect l="0" r="0" t="0" b="0"/>
          <a:stretch/>
        </p:blipFill>
        <p:spPr>
          <a:xfrm>
            <a:off x="1339850" y="1854200"/>
            <a:ext cx="1670050" cy="101600"/>
          </a:xfrm>
          <a:prstGeom prst="rect">
            <a:avLst/>
          </a:prstGeom>
        </p:spPr>
      </p:pic>
      <p:pic>
        <p:nvPicPr>
          <p:cNvPr id="19" name="Image 8" descr="connector">    </p:cNvPr>
          <p:cNvPicPr>
            <a:picLocks noChangeAspect="1"/>
          </p:cNvPicPr>
          <p:nvPr/>
        </p:nvPicPr>
        <p:blipFill>
          <a:blip r:embed="rId9"/>
          <a:srcRect l="0" r="0" t="0" b="0"/>
          <a:stretch/>
        </p:blipFill>
        <p:spPr>
          <a:xfrm>
            <a:off x="1339850" y="2133600"/>
            <a:ext cx="1670050" cy="101600"/>
          </a:xfrm>
          <a:prstGeom prst="rect">
            <a:avLst/>
          </a:prstGeom>
        </p:spPr>
      </p:pic>
      <p:pic>
        <p:nvPicPr>
          <p:cNvPr id="20" name="Image 9" descr="connector">    </p:cNvPr>
          <p:cNvPicPr>
            <a:picLocks noChangeAspect="1"/>
          </p:cNvPicPr>
          <p:nvPr/>
        </p:nvPicPr>
        <p:blipFill>
          <a:blip r:embed="rId10"/>
          <a:srcRect l="0" r="0" t="0" b="0"/>
          <a:stretch/>
        </p:blipFill>
        <p:spPr>
          <a:xfrm>
            <a:off x="1339850" y="2413000"/>
            <a:ext cx="3238500" cy="101600"/>
          </a:xfrm>
          <a:prstGeom prst="rect">
            <a:avLst/>
          </a:prstGeom>
        </p:spPr>
      </p:pic>
      <p:pic>
        <p:nvPicPr>
          <p:cNvPr id="21" name="Image 10" descr="connector">    </p:cNvPr>
          <p:cNvPicPr>
            <a:picLocks noChangeAspect="1"/>
          </p:cNvPicPr>
          <p:nvPr/>
        </p:nvPicPr>
        <p:blipFill>
          <a:blip r:embed="rId11"/>
          <a:srcRect l="0" r="0" t="0" b="0"/>
          <a:stretch/>
        </p:blipFill>
        <p:spPr>
          <a:xfrm>
            <a:off x="1339850" y="2692400"/>
            <a:ext cx="4806950" cy="101600"/>
          </a:xfrm>
          <a:prstGeom prst="rect">
            <a:avLst/>
          </a:prstGeom>
        </p:spPr>
      </p:pic>
      <p:pic>
        <p:nvPicPr>
          <p:cNvPr id="22" name="Image 11" descr="connector">    </p:cNvPr>
          <p:cNvPicPr>
            <a:picLocks noChangeAspect="1"/>
          </p:cNvPicPr>
          <p:nvPr/>
        </p:nvPicPr>
        <p:blipFill>
          <a:blip r:embed="rId12"/>
          <a:srcRect l="0" r="0" t="0" b="0"/>
          <a:stretch/>
        </p:blipFill>
        <p:spPr>
          <a:xfrm>
            <a:off x="1339850" y="2971800"/>
            <a:ext cx="4806950" cy="101600"/>
          </a:xfrm>
          <a:prstGeom prst="rect">
            <a:avLst/>
          </a:prstGeom>
        </p:spPr>
      </p:pic>
      <p:pic>
        <p:nvPicPr>
          <p:cNvPr id="23" name="Image 12" descr="connector">    </p:cNvPr>
          <p:cNvPicPr>
            <a:picLocks noChangeAspect="1"/>
          </p:cNvPicPr>
          <p:nvPr/>
        </p:nvPicPr>
        <p:blipFill>
          <a:blip r:embed="rId13"/>
          <a:srcRect l="0" r="0" t="0" b="0"/>
          <a:stretch/>
        </p:blipFill>
        <p:spPr>
          <a:xfrm>
            <a:off x="1339850" y="3251200"/>
            <a:ext cx="4806950" cy="101600"/>
          </a:xfrm>
          <a:prstGeom prst="rect">
            <a:avLst/>
          </a:prstGeom>
        </p:spPr>
      </p:pic>
      <p:pic>
        <p:nvPicPr>
          <p:cNvPr id="24" name="Image 13" descr="connector">    </p:cNvPr>
          <p:cNvPicPr>
            <a:picLocks noChangeAspect="1"/>
          </p:cNvPicPr>
          <p:nvPr/>
        </p:nvPicPr>
        <p:blipFill>
          <a:blip r:embed="rId14"/>
          <a:srcRect l="0" r="0" t="0" b="0"/>
          <a:stretch/>
        </p:blipFill>
        <p:spPr>
          <a:xfrm>
            <a:off x="4476750" y="3530600"/>
            <a:ext cx="1670050" cy="101600"/>
          </a:xfrm>
          <a:prstGeom prst="rect">
            <a:avLst/>
          </a:prstGeom>
        </p:spPr>
      </p:pic>
      <p:pic>
        <p:nvPicPr>
          <p:cNvPr id="25" name="Image 14" descr="connector">    </p:cNvPr>
          <p:cNvPicPr>
            <a:picLocks noChangeAspect="1"/>
          </p:cNvPicPr>
          <p:nvPr/>
        </p:nvPicPr>
        <p:blipFill>
          <a:blip r:embed="rId15"/>
          <a:srcRect l="0" r="0" t="0" b="0"/>
          <a:stretch/>
        </p:blipFill>
        <p:spPr>
          <a:xfrm>
            <a:off x="6045200" y="3810000"/>
            <a:ext cx="1670050" cy="101600"/>
          </a:xfrm>
          <a:prstGeom prst="rect">
            <a:avLst/>
          </a:prstGeom>
        </p:spPr>
      </p:pic>
      <p:pic>
        <p:nvPicPr>
          <p:cNvPr id="26" name="Image 15" descr="connector">    </p:cNvPr>
          <p:cNvPicPr>
            <a:picLocks noChangeAspect="1"/>
          </p:cNvPicPr>
          <p:nvPr/>
        </p:nvPicPr>
        <p:blipFill>
          <a:blip r:embed="rId16"/>
          <a:srcRect l="0" r="0" t="0" b="0"/>
          <a:stretch/>
        </p:blipFill>
        <p:spPr>
          <a:xfrm>
            <a:off x="6045200" y="4089400"/>
            <a:ext cx="3238500" cy="101600"/>
          </a:xfrm>
          <a:prstGeom prst="rect">
            <a:avLst/>
          </a:prstGeom>
        </p:spPr>
      </p:pic>
      <p:pic>
        <p:nvPicPr>
          <p:cNvPr id="27" name="Image 16" descr="connector">    </p:cNvPr>
          <p:cNvPicPr>
            <a:picLocks noChangeAspect="1"/>
          </p:cNvPicPr>
          <p:nvPr/>
        </p:nvPicPr>
        <p:blipFill>
          <a:blip r:embed="rId17"/>
          <a:srcRect l="0" r="0" t="0" b="0"/>
          <a:stretch/>
        </p:blipFill>
        <p:spPr>
          <a:xfrm>
            <a:off x="1339850" y="4368800"/>
            <a:ext cx="6375400" cy="101600"/>
          </a:xfrm>
          <a:prstGeom prst="rect">
            <a:avLst/>
          </a:prstGeom>
        </p:spPr>
      </p:pic>
      <p:pic>
        <p:nvPicPr>
          <p:cNvPr id="28" name="Image 17" descr="connector">    </p:cNvPr>
          <p:cNvPicPr>
            <a:picLocks noChangeAspect="1"/>
          </p:cNvPicPr>
          <p:nvPr/>
        </p:nvPicPr>
        <p:blipFill>
          <a:blip r:embed="rId18"/>
          <a:srcRect l="0" r="0" t="0" b="0"/>
          <a:stretch/>
        </p:blipFill>
        <p:spPr>
          <a:xfrm>
            <a:off x="4476750" y="4648200"/>
            <a:ext cx="3238500" cy="101600"/>
          </a:xfrm>
          <a:prstGeom prst="rect">
            <a:avLst/>
          </a:prstGeom>
        </p:spPr>
      </p:pic>
      <p:pic>
        <p:nvPicPr>
          <p:cNvPr id="29" name="Image 18" descr="connector">    </p:cNvPr>
          <p:cNvPicPr>
            <a:picLocks noChangeAspect="1"/>
          </p:cNvPicPr>
          <p:nvPr/>
        </p:nvPicPr>
        <p:blipFill>
          <a:blip r:embed="rId19"/>
          <a:srcRect l="0" r="0" t="0" b="0"/>
          <a:stretch/>
        </p:blipFill>
        <p:spPr>
          <a:xfrm>
            <a:off x="7613650" y="4927600"/>
            <a:ext cx="1670050" cy="101600"/>
          </a:xfrm>
          <a:prstGeom prst="rect">
            <a:avLst/>
          </a:prstGeom>
        </p:spPr>
      </p:pic>
      <p:pic>
        <p:nvPicPr>
          <p:cNvPr id="30" name="Image 19" descr="connector">    </p:cNvPr>
          <p:cNvPicPr>
            <a:picLocks noChangeAspect="1"/>
          </p:cNvPicPr>
          <p:nvPr/>
        </p:nvPicPr>
        <p:blipFill>
          <a:blip r:embed="rId20"/>
          <a:srcRect l="0" r="0" t="0" b="0"/>
          <a:stretch/>
        </p:blipFill>
        <p:spPr>
          <a:xfrm>
            <a:off x="4476750" y="5207000"/>
            <a:ext cx="4806950" cy="101600"/>
          </a:xfrm>
          <a:prstGeom prst="rect">
            <a:avLst/>
          </a:prstGeom>
        </p:spPr>
      </p:pic>
      <p:pic>
        <p:nvPicPr>
          <p:cNvPr id="31" name="Image 20" descr="connector">    </p:cNvPr>
          <p:cNvPicPr>
            <a:picLocks noChangeAspect="1"/>
          </p:cNvPicPr>
          <p:nvPr/>
        </p:nvPicPr>
        <p:blipFill>
          <a:blip r:embed="rId21"/>
          <a:srcRect l="0" r="0" t="0" b="0"/>
          <a:stretch/>
        </p:blipFill>
        <p:spPr>
          <a:xfrm>
            <a:off x="9182100" y="5486400"/>
            <a:ext cx="1670050" cy="101600"/>
          </a:xfrm>
          <a:prstGeom prst="rect">
            <a:avLst/>
          </a:prstGeom>
        </p:spPr>
      </p:pic>
      <p:pic>
        <p:nvPicPr>
          <p:cNvPr id="32" name="Image 21" descr="connector">    </p:cNvPr>
          <p:cNvPicPr>
            <a:picLocks noChangeAspect="1"/>
          </p:cNvPicPr>
          <p:nvPr/>
        </p:nvPicPr>
        <p:blipFill>
          <a:blip r:embed="rId22"/>
          <a:srcRect l="0" r="0" t="0" b="0"/>
          <a:stretch/>
        </p:blipFill>
        <p:spPr>
          <a:xfrm>
            <a:off x="9182100" y="5765800"/>
            <a:ext cx="1670050" cy="101600"/>
          </a:xfrm>
          <a:prstGeom prst="rect">
            <a:avLst/>
          </a:prstGeom>
        </p:spPr>
      </p:pic>
      <p:sp>
        <p:nvSpPr>
          <p:cNvPr id="33" name="Text 9"/>
          <p:cNvSpPr/>
          <p:nvPr/>
        </p:nvSpPr>
        <p:spPr>
          <a:xfrm>
            <a:off x="1466850" y="1676400"/>
            <a:ext cx="237490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13233F"/>
                </a:solidFill>
                <a:latin typeface="JetBrains Mono" pitchFamily="49" charset="0"/>
                <a:ea typeface="JetBrains Mono" pitchFamily="49" charset="-122"/>
                <a:cs typeface="JetBrains Mono" pitchFamily="49" charset="-120"/>
              </a:rPr>
              <a:t>1 one search per company</a:t>
            </a:r>
            <a:endParaRPr lang="en-US" sz="1200" dirty="0"/>
          </a:p>
        </p:txBody>
      </p:sp>
      <p:sp>
        <p:nvSpPr>
          <p:cNvPr id="34" name="Text 10"/>
          <p:cNvSpPr/>
          <p:nvPr/>
        </p:nvSpPr>
        <p:spPr>
          <a:xfrm>
            <a:off x="1466850" y="1955800"/>
            <a:ext cx="200660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2B5C9E"/>
                </a:solidFill>
                <a:latin typeface="JetBrains Mono" pitchFamily="49" charset="0"/>
                <a:ea typeface="JetBrains Mono" pitchFamily="49" charset="-122"/>
                <a:cs typeface="JetBrains Mono" pitchFamily="49" charset="-120"/>
              </a:rPr>
              <a:t>2 top results + URLs</a:t>
            </a:r>
            <a:endParaRPr lang="en-US" sz="1200" dirty="0"/>
          </a:p>
        </p:txBody>
      </p:sp>
      <p:sp>
        <p:nvSpPr>
          <p:cNvPr id="35" name="Text 11"/>
          <p:cNvSpPr/>
          <p:nvPr/>
        </p:nvSpPr>
        <p:spPr>
          <a:xfrm>
            <a:off x="1466850" y="2235200"/>
            <a:ext cx="330200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A94E16"/>
                </a:solidFill>
                <a:latin typeface="JetBrains Mono" pitchFamily="49" charset="0"/>
                <a:ea typeface="JetBrains Mono" pitchFamily="49" charset="-122"/>
                <a:cs typeface="JetBrains Mono" pitchFamily="49" charset="-120"/>
              </a:rPr>
              <a:t>3 research 4 companies in one call</a:t>
            </a:r>
            <a:endParaRPr lang="en-US" sz="1200" dirty="0"/>
          </a:p>
        </p:txBody>
      </p:sp>
      <p:sp>
        <p:nvSpPr>
          <p:cNvPr id="36" name="Text 12"/>
          <p:cNvSpPr/>
          <p:nvPr/>
        </p:nvSpPr>
        <p:spPr>
          <a:xfrm>
            <a:off x="1466850" y="2514600"/>
            <a:ext cx="394970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13233F"/>
                </a:solidFill>
                <a:latin typeface="JetBrains Mono" pitchFamily="49" charset="0"/>
                <a:ea typeface="JetBrains Mono" pitchFamily="49" charset="-122"/>
                <a:cs typeface="JetBrains Mono" pitchFamily="49" charset="-120"/>
              </a:rPr>
              <a:t>4 handoff: validate_account, with sources</a:t>
            </a:r>
            <a:endParaRPr lang="en-US" sz="1200" dirty="0"/>
          </a:p>
        </p:txBody>
      </p:sp>
      <p:sp>
        <p:nvSpPr>
          <p:cNvPr id="37" name="Text 13"/>
          <p:cNvSpPr/>
          <p:nvPr/>
        </p:nvSpPr>
        <p:spPr>
          <a:xfrm>
            <a:off x="1466850" y="2794000"/>
            <a:ext cx="330200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13233F"/>
                </a:solidFill>
                <a:latin typeface="JetBrains Mono" pitchFamily="49" charset="0"/>
                <a:ea typeface="JetBrains Mono" pitchFamily="49" charset="-122"/>
                <a:cs typeface="JetBrains Mono" pitchFamily="49" charset="-120"/>
              </a:rPr>
              <a:t>5 ask: evidence thin? one question</a:t>
            </a:r>
            <a:endParaRPr lang="en-US" sz="1200" dirty="0"/>
          </a:p>
        </p:txBody>
      </p:sp>
      <p:sp>
        <p:nvSpPr>
          <p:cNvPr id="38" name="Text 14"/>
          <p:cNvSpPr/>
          <p:nvPr/>
        </p:nvSpPr>
        <p:spPr>
          <a:xfrm>
            <a:off x="1466850" y="3073400"/>
            <a:ext cx="209550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2B5C9E"/>
                </a:solidFill>
                <a:latin typeface="JetBrains Mono" pitchFamily="49" charset="0"/>
                <a:ea typeface="JetBrains Mono" pitchFamily="49" charset="-122"/>
                <a:cs typeface="JetBrains Mono" pitchFamily="49" charset="-120"/>
              </a:rPr>
              <a:t>6 answer + source URL</a:t>
            </a:r>
            <a:endParaRPr lang="en-US" sz="1200" dirty="0"/>
          </a:p>
        </p:txBody>
      </p:sp>
      <p:sp>
        <p:nvSpPr>
          <p:cNvPr id="39" name="Text 15"/>
          <p:cNvSpPr/>
          <p:nvPr/>
        </p:nvSpPr>
        <p:spPr>
          <a:xfrm>
            <a:off x="4603750" y="3352800"/>
            <a:ext cx="320675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A94E16"/>
                </a:solidFill>
                <a:latin typeface="JetBrains Mono" pitchFamily="49" charset="0"/>
                <a:ea typeface="JetBrains Mono" pitchFamily="49" charset="-122"/>
                <a:cs typeface="JetBrains Mono" pitchFamily="49" charset="-120"/>
              </a:rPr>
              <a:t>7 score 4 accounts, 5-part rubric</a:t>
            </a:r>
            <a:endParaRPr lang="en-US" sz="1200" dirty="0"/>
          </a:p>
        </p:txBody>
      </p:sp>
      <p:sp>
        <p:nvSpPr>
          <p:cNvPr id="40" name="Text 16"/>
          <p:cNvSpPr/>
          <p:nvPr/>
        </p:nvSpPr>
        <p:spPr>
          <a:xfrm>
            <a:off x="6172200" y="3632200"/>
            <a:ext cx="265430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13233F"/>
                </a:solidFill>
                <a:latin typeface="JetBrains Mono" pitchFamily="49" charset="0"/>
                <a:ea typeface="JetBrains Mono" pitchFamily="49" charset="-122"/>
                <a:cs typeface="JetBrains Mono" pitchFamily="49" charset="-120"/>
              </a:rPr>
              <a:t>8 handoff: build_play (A/B)</a:t>
            </a:r>
            <a:endParaRPr lang="en-US" sz="1200" dirty="0"/>
          </a:p>
        </p:txBody>
      </p:sp>
      <p:sp>
        <p:nvSpPr>
          <p:cNvPr id="41" name="Text 17"/>
          <p:cNvSpPr/>
          <p:nvPr/>
        </p:nvSpPr>
        <p:spPr>
          <a:xfrm>
            <a:off x="6172200" y="3911600"/>
            <a:ext cx="311785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13233F"/>
                </a:solidFill>
                <a:latin typeface="JetBrains Mono" pitchFamily="49" charset="0"/>
                <a:ea typeface="JetBrains Mono" pitchFamily="49" charset="-122"/>
                <a:cs typeface="JetBrains Mono" pitchFamily="49" charset="-120"/>
              </a:rPr>
              <a:t>9 C or Not ICP: account_complete</a:t>
            </a:r>
            <a:endParaRPr lang="en-US" sz="1200" dirty="0"/>
          </a:p>
        </p:txBody>
      </p:sp>
      <p:sp>
        <p:nvSpPr>
          <p:cNvPr id="42" name="Text 18"/>
          <p:cNvSpPr/>
          <p:nvPr/>
        </p:nvSpPr>
        <p:spPr>
          <a:xfrm>
            <a:off x="1466850" y="4191000"/>
            <a:ext cx="311785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13233F"/>
                </a:solidFill>
                <a:latin typeface="JetBrains Mono" pitchFamily="49" charset="0"/>
                <a:ea typeface="JetBrains Mono" pitchFamily="49" charset="-122"/>
                <a:cs typeface="JetBrains Mono" pitchFamily="49" charset="-120"/>
              </a:rPr>
              <a:t>10 top 8: ask for a current hook</a:t>
            </a:r>
            <a:endParaRPr lang="en-US" sz="1200" dirty="0"/>
          </a:p>
        </p:txBody>
      </p:sp>
      <p:sp>
        <p:nvSpPr>
          <p:cNvPr id="43" name="Text 19"/>
          <p:cNvSpPr/>
          <p:nvPr/>
        </p:nvSpPr>
        <p:spPr>
          <a:xfrm>
            <a:off x="4603750" y="4470400"/>
            <a:ext cx="255905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A94E16"/>
                </a:solidFill>
                <a:latin typeface="JetBrains Mono" pitchFamily="49" charset="0"/>
                <a:ea typeface="JetBrains Mono" pitchFamily="49" charset="-122"/>
                <a:cs typeface="JetBrains Mono" pitchFamily="49" charset="-120"/>
              </a:rPr>
              <a:t>11 draft plays, 3 per call</a:t>
            </a:r>
            <a:endParaRPr lang="en-US" sz="1200" dirty="0"/>
          </a:p>
        </p:txBody>
      </p:sp>
      <p:sp>
        <p:nvSpPr>
          <p:cNvPr id="44" name="Text 20"/>
          <p:cNvSpPr/>
          <p:nvPr/>
        </p:nvSpPr>
        <p:spPr>
          <a:xfrm>
            <a:off x="7740650" y="4749800"/>
            <a:ext cx="283845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13233F"/>
                </a:solidFill>
                <a:latin typeface="JetBrains Mono" pitchFamily="49" charset="0"/>
                <a:ea typeface="JetBrains Mono" pitchFamily="49" charset="-122"/>
                <a:cs typeface="JetBrains Mono" pitchFamily="49" charset="-120"/>
              </a:rPr>
              <a:t>12 account_complete + openers</a:t>
            </a:r>
            <a:endParaRPr lang="en-US" sz="1200" dirty="0"/>
          </a:p>
        </p:txBody>
      </p:sp>
      <p:sp>
        <p:nvSpPr>
          <p:cNvPr id="45" name="Text 21"/>
          <p:cNvSpPr/>
          <p:nvPr/>
        </p:nvSpPr>
        <p:spPr>
          <a:xfrm>
            <a:off x="4603750" y="5029200"/>
            <a:ext cx="200660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A94E16"/>
                </a:solidFill>
                <a:latin typeface="JetBrains Mono" pitchFamily="49" charset="0"/>
                <a:ea typeface="JetBrains Mono" pitchFamily="49" charset="-122"/>
                <a:cs typeface="JetBrains Mono" pitchFamily="49" charset="-120"/>
              </a:rPr>
              <a:t>13 write the debrief</a:t>
            </a:r>
            <a:endParaRPr lang="en-US" sz="1200" dirty="0"/>
          </a:p>
        </p:txBody>
      </p:sp>
      <p:sp>
        <p:nvSpPr>
          <p:cNvPr id="46" name="Text 22"/>
          <p:cNvSpPr/>
          <p:nvPr/>
        </p:nvSpPr>
        <p:spPr>
          <a:xfrm>
            <a:off x="9309100" y="5308600"/>
            <a:ext cx="154305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13233F"/>
                </a:solidFill>
                <a:latin typeface="JetBrains Mono" pitchFamily="49" charset="0"/>
                <a:ea typeface="JetBrains Mono" pitchFamily="49" charset="-122"/>
                <a:cs typeface="JetBrains Mono" pitchFamily="49" charset="-120"/>
              </a:rPr>
              <a:t>14 write_report</a:t>
            </a:r>
            <a:endParaRPr lang="en-US" sz="1200" dirty="0"/>
          </a:p>
        </p:txBody>
      </p:sp>
      <p:sp>
        <p:nvSpPr>
          <p:cNvPr id="47" name="Text 23"/>
          <p:cNvSpPr/>
          <p:nvPr/>
        </p:nvSpPr>
        <p:spPr>
          <a:xfrm>
            <a:off x="8743950" y="5588000"/>
            <a:ext cx="2838450" cy="190500"/>
          </a:xfrm>
          <a:prstGeom prst="rect">
            <a:avLst/>
          </a:prstGeom>
          <a:solidFill>
            <a:srgbClr val="F6F5F0"/>
          </a:solidFill>
          <a:ln/>
        </p:spPr>
        <p:txBody>
          <a:bodyPr wrap="none" lIns="50800" tIns="0" rIns="0" bIns="0" rtlCol="0" anchor="t">
            <a:normAutofit/>
          </a:bodyPr>
          <a:lstStyle/>
          <a:p>
            <a:pPr algn="l" indent="0" marL="0">
              <a:lnSpc>
                <a:spcPts val="1500"/>
              </a:lnSpc>
              <a:buNone/>
            </a:pPr>
            <a:r>
              <a:rPr lang="en-US" sz="1200" dirty="0">
                <a:solidFill>
                  <a:srgbClr val="2B5C9E"/>
                </a:solidFill>
                <a:latin typeface="JetBrains Mono" pitchFamily="49" charset="0"/>
                <a:ea typeface="JetBrains Mono" pitchFamily="49" charset="-122"/>
                <a:cs typeface="JetBrains Mono" pitchFamily="49" charset="-120"/>
              </a:rPr>
              <a:t>15 workbook, transcript, JSON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33F"/>
                </a:solidFill>
                <a:latin typeface="IBM Plex Sans" pitchFamily="34" charset="0"/>
                <a:ea typeface="IBM Plex Sans" pitchFamily="34" charset="-122"/>
                <a:cs typeface="IBM Plex Sans" pitchFamily="34" charset="-120"/>
              </a:rPr>
              <a:t>Free models, used together</a:t>
            </a:r>
            <a:endParaRPr lang="en-US" sz="3200" dirty="0"/>
          </a:p>
        </p:txBody>
      </p:sp>
      <p:sp>
        <p:nvSpPr>
          <p:cNvPr id="3" name="Shape 1"/>
          <p:cNvSpPr/>
          <p:nvPr/>
        </p:nvSpPr>
        <p:spPr>
          <a:xfrm>
            <a:off x="815975" y="1364590"/>
            <a:ext cx="3414183" cy="3328988"/>
          </a:xfrm>
          <a:prstGeom prst="roundRect">
            <a:avLst>
              <a:gd name="adj" fmla="val 2957"/>
            </a:avLst>
          </a:prstGeom>
          <a:solidFill>
            <a:srgbClr val="FDFCF9"/>
          </a:solidFill>
          <a:ln w="6350">
            <a:solidFill>
              <a:srgbClr val="E1DED6"/>
            </a:solidFill>
            <a:prstDash val="solid"/>
          </a:ln>
        </p:spPr>
      </p:sp>
      <p:pic>
        <p:nvPicPr>
          <p:cNvPr id="4" name="Image 0" descr="Activity">    </p:cNvPr>
          <p:cNvPicPr>
            <a:picLocks noChangeAspect="1"/>
          </p:cNvPicPr>
          <p:nvPr/>
        </p:nvPicPr>
        <p:blipFill>
          <a:blip r:embed="rId1"/>
          <a:srcRect l="0" r="0" t="0" b="0"/>
          <a:stretch/>
        </p:blipFill>
        <p:spPr>
          <a:xfrm>
            <a:off x="1020233" y="1571361"/>
            <a:ext cx="254000" cy="254000"/>
          </a:xfrm>
          <a:prstGeom prst="rect">
            <a:avLst/>
          </a:prstGeom>
        </p:spPr>
      </p:pic>
      <p:sp>
        <p:nvSpPr>
          <p:cNvPr id="5" name="Text 2"/>
          <p:cNvSpPr/>
          <p:nvPr/>
        </p:nvSpPr>
        <p:spPr>
          <a:xfrm>
            <a:off x="1363133" y="1568847"/>
            <a:ext cx="70683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33F"/>
                </a:solidFill>
                <a:latin typeface="IBM Plex Sans" pitchFamily="34" charset="0"/>
                <a:ea typeface="IBM Plex Sans" pitchFamily="34" charset="-122"/>
                <a:cs typeface="IBM Plex Sans" pitchFamily="34" charset="-120"/>
              </a:rPr>
              <a:t>Route</a:t>
            </a:r>
            <a:endParaRPr lang="en-US" sz="1700" dirty="0"/>
          </a:p>
        </p:txBody>
      </p:sp>
      <p:sp>
        <p:nvSpPr>
          <p:cNvPr id="6" name="Text 3"/>
          <p:cNvSpPr/>
          <p:nvPr/>
        </p:nvSpPr>
        <p:spPr>
          <a:xfrm>
            <a:off x="1001691" y="1929476"/>
            <a:ext cx="3109045" cy="2585244"/>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13233F"/>
                </a:solidFill>
                <a:latin typeface="IBM Plex Sans" pitchFamily="34" charset="0"/>
                <a:ea typeface="IBM Plex Sans" pitchFamily="34" charset="-122"/>
                <a:cs typeface="IBM Plex Sans" pitchFamily="34" charset="-120"/>
              </a:rPr>
              <a:t>Each model has its own free limits, so one key can run 3 models</a:t>
            </a:r>
            <a:endParaRPr lang="en-US" sz="1600" dirty="0"/>
          </a:p>
          <a:p>
            <a:pPr algn="l" marL="196342" indent="-196342">
              <a:lnSpc>
                <a:spcPts val="2240"/>
              </a:lnSpc>
              <a:buSzPct val="100000"/>
              <a:buChar char="•"/>
            </a:pPr>
            <a:r>
              <a:rPr lang="en-US" sz="1600" dirty="0">
                <a:solidFill>
                  <a:srgbClr val="13233F"/>
                </a:solidFill>
                <a:latin typeface="IBM Plex Sans" pitchFamily="34" charset="0"/>
                <a:ea typeface="IBM Plex Sans" pitchFamily="34" charset="-122"/>
                <a:cs typeface="IBM Plex Sans" pitchFamily="34" charset="-120"/>
              </a:rPr>
              <a:t>Real limits read from every reply</a:t>
            </a:r>
            <a:endParaRPr lang="en-US" sz="1600" dirty="0"/>
          </a:p>
          <a:p>
            <a:pPr algn="l" marL="196342" indent="-196342">
              <a:lnSpc>
                <a:spcPts val="2240"/>
              </a:lnSpc>
              <a:buSzPct val="100000"/>
              <a:buChar char="•"/>
            </a:pPr>
            <a:r>
              <a:rPr lang="en-US" sz="1600" dirty="0">
                <a:solidFill>
                  <a:srgbClr val="13233F"/>
                </a:solidFill>
                <a:latin typeface="IBM Plex Sans" pitchFamily="34" charset="0"/>
                <a:ea typeface="IBM Plex Sans" pitchFamily="34" charset="-122"/>
                <a:cs typeface="IBM Plex Sans" pitchFamily="34" charset="-120"/>
              </a:rPr>
              <a:t>Each call goes to the model free soonest</a:t>
            </a:r>
            <a:endParaRPr lang="en-US" sz="1600" dirty="0"/>
          </a:p>
          <a:p>
            <a:pPr algn="l" marL="196342" indent="-196342">
              <a:lnSpc>
                <a:spcPts val="2240"/>
              </a:lnSpc>
              <a:buSzPct val="100000"/>
              <a:buChar char="•"/>
            </a:pPr>
            <a:r>
              <a:rPr lang="en-US" sz="1600" dirty="0">
                <a:solidFill>
                  <a:srgbClr val="13233F"/>
                </a:solidFill>
                <a:latin typeface="IBM Plex Sans" pitchFamily="34" charset="0"/>
                <a:ea typeface="IBM Plex Sans" pitchFamily="34" charset="-122"/>
                <a:cs typeface="IBM Plex Sans" pitchFamily="34" charset="-120"/>
              </a:rPr>
              <a:t>Gemini only starts conversations</a:t>
            </a:r>
            <a:endParaRPr lang="en-US" sz="1600" dirty="0"/>
          </a:p>
        </p:txBody>
      </p:sp>
      <p:sp>
        <p:nvSpPr>
          <p:cNvPr id="7" name="Shape 4"/>
          <p:cNvSpPr/>
          <p:nvPr/>
        </p:nvSpPr>
        <p:spPr>
          <a:xfrm>
            <a:off x="4388908" y="1364590"/>
            <a:ext cx="3414183" cy="3328988"/>
          </a:xfrm>
          <a:prstGeom prst="roundRect">
            <a:avLst>
              <a:gd name="adj" fmla="val 2957"/>
            </a:avLst>
          </a:prstGeom>
          <a:solidFill>
            <a:srgbClr val="FDFCF9"/>
          </a:solidFill>
          <a:ln w="6350">
            <a:solidFill>
              <a:srgbClr val="E1DED6"/>
            </a:solidFill>
            <a:prstDash val="solid"/>
          </a:ln>
        </p:spPr>
      </p:sp>
      <p:pic>
        <p:nvPicPr>
          <p:cNvPr id="8" name="Image 1" descr="Trust">    </p:cNvPr>
          <p:cNvPicPr>
            <a:picLocks noChangeAspect="1"/>
          </p:cNvPicPr>
          <p:nvPr/>
        </p:nvPicPr>
        <p:blipFill>
          <a:blip r:embed="rId2"/>
          <a:srcRect l="0" r="0" t="0" b="0"/>
          <a:stretch/>
        </p:blipFill>
        <p:spPr>
          <a:xfrm>
            <a:off x="4593167" y="1571361"/>
            <a:ext cx="254000" cy="254000"/>
          </a:xfrm>
          <a:prstGeom prst="rect">
            <a:avLst/>
          </a:prstGeom>
        </p:spPr>
      </p:pic>
      <p:sp>
        <p:nvSpPr>
          <p:cNvPr id="9" name="Text 5"/>
          <p:cNvSpPr/>
          <p:nvPr/>
        </p:nvSpPr>
        <p:spPr>
          <a:xfrm>
            <a:off x="4936067" y="1568847"/>
            <a:ext cx="899795"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33F"/>
                </a:solidFill>
                <a:latin typeface="IBM Plex Sans" pitchFamily="34" charset="0"/>
                <a:ea typeface="IBM Plex Sans" pitchFamily="34" charset="-122"/>
                <a:cs typeface="IBM Plex Sans" pitchFamily="34" charset="-120"/>
              </a:rPr>
              <a:t>Survive</a:t>
            </a:r>
            <a:endParaRPr lang="en-US" sz="1700" dirty="0"/>
          </a:p>
        </p:txBody>
      </p:sp>
      <p:sp>
        <p:nvSpPr>
          <p:cNvPr id="10" name="Text 6"/>
          <p:cNvSpPr/>
          <p:nvPr/>
        </p:nvSpPr>
        <p:spPr>
          <a:xfrm>
            <a:off x="4574625" y="1929476"/>
            <a:ext cx="3109045" cy="2300817"/>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13233F"/>
                </a:solidFill>
                <a:latin typeface="IBM Plex Sans" pitchFamily="34" charset="0"/>
                <a:ea typeface="IBM Plex Sans" pitchFamily="34" charset="-122"/>
                <a:cs typeface="IBM Plex Sans" pitchFamily="34" charset="-120"/>
              </a:rPr>
              <a:t>Busy (429): pause, back off, move on</a:t>
            </a:r>
            <a:endParaRPr lang="en-US" sz="1600" dirty="0"/>
          </a:p>
          <a:p>
            <a:pPr algn="l" marL="196342" indent="-196342">
              <a:lnSpc>
                <a:spcPts val="2240"/>
              </a:lnSpc>
              <a:buSzPct val="100000"/>
              <a:buChar char="•"/>
            </a:pPr>
            <a:r>
              <a:rPr lang="en-US" sz="1600" dirty="0">
                <a:solidFill>
                  <a:srgbClr val="13233F"/>
                </a:solidFill>
                <a:latin typeface="IBM Plex Sans" pitchFamily="34" charset="0"/>
                <a:ea typeface="IBM Plex Sans" pitchFamily="34" charset="-122"/>
                <a:cs typeface="IBM Plex Sans" pitchFamily="34" charset="-120"/>
              </a:rPr>
              <a:t>Daily quota spent: retired for the day</a:t>
            </a:r>
            <a:endParaRPr lang="en-US" sz="1600" dirty="0"/>
          </a:p>
          <a:p>
            <a:pPr algn="l" marL="196342" indent="-196342">
              <a:lnSpc>
                <a:spcPts val="2240"/>
              </a:lnSpc>
              <a:buSzPct val="100000"/>
              <a:buChar char="•"/>
            </a:pPr>
            <a:r>
              <a:rPr lang="en-US" sz="1600" dirty="0">
                <a:solidFill>
                  <a:srgbClr val="13233F"/>
                </a:solidFill>
                <a:latin typeface="IBM Plex Sans" pitchFamily="34" charset="0"/>
                <a:ea typeface="IBM Plex Sans" pitchFamily="34" charset="-122"/>
                <a:cs typeface="IBM Plex Sans" pitchFamily="34" charset="-120"/>
              </a:rPr>
              <a:t>Bad key or refuses everything: dropped</a:t>
            </a:r>
            <a:endParaRPr lang="en-US" sz="1600" dirty="0"/>
          </a:p>
          <a:p>
            <a:pPr algn="l" marL="196342" indent="-196342">
              <a:lnSpc>
                <a:spcPts val="2240"/>
              </a:lnSpc>
              <a:buSzPct val="100000"/>
              <a:buChar char="•"/>
            </a:pPr>
            <a:r>
              <a:rPr lang="en-US" sz="1600" dirty="0">
                <a:solidFill>
                  <a:srgbClr val="13233F"/>
                </a:solidFill>
                <a:latin typeface="IBM Plex Sans" pitchFamily="34" charset="0"/>
                <a:ea typeface="IBM Plex Sans" pitchFamily="34" charset="-122"/>
                <a:cs typeface="IBM Plex Sans" pitchFamily="34" charset="-120"/>
              </a:rPr>
              <a:t>Half-empty answer: redone elsewhere</a:t>
            </a:r>
            <a:endParaRPr lang="en-US" sz="1600" dirty="0"/>
          </a:p>
        </p:txBody>
      </p:sp>
      <p:sp>
        <p:nvSpPr>
          <p:cNvPr id="11" name="Shape 7"/>
          <p:cNvSpPr/>
          <p:nvPr/>
        </p:nvSpPr>
        <p:spPr>
          <a:xfrm>
            <a:off x="7961842" y="1364590"/>
            <a:ext cx="3414183" cy="3328988"/>
          </a:xfrm>
          <a:prstGeom prst="roundRect">
            <a:avLst>
              <a:gd name="adj" fmla="val 2957"/>
            </a:avLst>
          </a:prstGeom>
          <a:solidFill>
            <a:srgbClr val="FDFCF9"/>
          </a:solidFill>
          <a:ln w="6350">
            <a:solidFill>
              <a:srgbClr val="E1DED6"/>
            </a:solidFill>
            <a:prstDash val="solid"/>
          </a:ln>
        </p:spPr>
      </p:sp>
      <p:pic>
        <p:nvPicPr>
          <p:cNvPr id="12" name="Image 2" descr="Lightning">    </p:cNvPr>
          <p:cNvPicPr>
            <a:picLocks noChangeAspect="1"/>
          </p:cNvPicPr>
          <p:nvPr/>
        </p:nvPicPr>
        <p:blipFill>
          <a:blip r:embed="rId3"/>
          <a:srcRect l="0" r="0" t="0" b="0"/>
          <a:stretch/>
        </p:blipFill>
        <p:spPr>
          <a:xfrm>
            <a:off x="8166100" y="1571361"/>
            <a:ext cx="254000" cy="254000"/>
          </a:xfrm>
          <a:prstGeom prst="rect">
            <a:avLst/>
          </a:prstGeom>
        </p:spPr>
      </p:pic>
      <p:sp>
        <p:nvSpPr>
          <p:cNvPr id="13" name="Text 8"/>
          <p:cNvSpPr/>
          <p:nvPr/>
        </p:nvSpPr>
        <p:spPr>
          <a:xfrm>
            <a:off x="8509000" y="1568847"/>
            <a:ext cx="119761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33F"/>
                </a:solidFill>
                <a:latin typeface="IBM Plex Sans" pitchFamily="34" charset="0"/>
                <a:ea typeface="IBM Plex Sans" pitchFamily="34" charset="-122"/>
                <a:cs typeface="IBM Plex Sans" pitchFamily="34" charset="-120"/>
              </a:rPr>
              <a:t>Save calls</a:t>
            </a:r>
            <a:endParaRPr lang="en-US" sz="1700" dirty="0"/>
          </a:p>
        </p:txBody>
      </p:sp>
      <p:sp>
        <p:nvSpPr>
          <p:cNvPr id="14" name="Text 9"/>
          <p:cNvSpPr/>
          <p:nvPr/>
        </p:nvSpPr>
        <p:spPr>
          <a:xfrm>
            <a:off x="8147558" y="1929476"/>
            <a:ext cx="3109045" cy="2300817"/>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13233F"/>
                </a:solidFill>
                <a:latin typeface="IBM Plex Sans" pitchFamily="34" charset="0"/>
                <a:ea typeface="IBM Plex Sans" pitchFamily="34" charset="-122"/>
                <a:cs typeface="IBM Plex Sans" pitchFamily="34" charset="-120"/>
              </a:rPr>
              <a:t>Triage first: non-buyers skip research</a:t>
            </a:r>
            <a:endParaRPr lang="en-US" sz="1600" dirty="0"/>
          </a:p>
          <a:p>
            <a:pPr algn="l" marL="196342" indent="-196342">
              <a:lnSpc>
                <a:spcPts val="2240"/>
              </a:lnSpc>
              <a:buSzPct val="100000"/>
              <a:buChar char="•"/>
            </a:pPr>
            <a:r>
              <a:rPr lang="en-US" sz="1600" dirty="0">
                <a:solidFill>
                  <a:srgbClr val="13233F"/>
                </a:solidFill>
                <a:latin typeface="IBM Plex Sans" pitchFamily="34" charset="0"/>
                <a:ea typeface="IBM Plex Sans" pitchFamily="34" charset="-122"/>
                <a:cs typeface="IBM Plex Sans" pitchFamily="34" charset="-120"/>
              </a:rPr>
              <a:t>4 accounts per research or scoring call</a:t>
            </a:r>
            <a:endParaRPr lang="en-US" sz="1600" dirty="0"/>
          </a:p>
          <a:p>
            <a:pPr algn="l" marL="196342" indent="-196342">
              <a:lnSpc>
                <a:spcPts val="2240"/>
              </a:lnSpc>
              <a:buSzPct val="100000"/>
              <a:buChar char="•"/>
            </a:pPr>
            <a:r>
              <a:rPr lang="en-US" sz="1600" dirty="0">
                <a:solidFill>
                  <a:srgbClr val="13233F"/>
                </a:solidFill>
                <a:latin typeface="IBM Plex Sans" pitchFamily="34" charset="0"/>
                <a:ea typeface="IBM Plex Sans" pitchFamily="34" charset="-122"/>
                <a:cs typeface="IBM Plex Sans" pitchFamily="34" charset="-120"/>
              </a:rPr>
              <a:t>One web search per company, 3 at once</a:t>
            </a:r>
            <a:endParaRPr lang="en-US" sz="1600" dirty="0"/>
          </a:p>
          <a:p>
            <a:pPr algn="l" marL="196342" indent="-196342">
              <a:lnSpc>
                <a:spcPts val="2240"/>
              </a:lnSpc>
              <a:buSzPct val="100000"/>
              <a:buChar char="•"/>
            </a:pPr>
            <a:r>
              <a:rPr lang="en-US" sz="1600" dirty="0">
                <a:solidFill>
                  <a:srgbClr val="13233F"/>
                </a:solidFill>
                <a:latin typeface="IBM Plex Sans" pitchFamily="34" charset="0"/>
                <a:ea typeface="IBM Plex Sans" pitchFamily="34" charset="-122"/>
                <a:cs typeface="IBM Plex Sans" pitchFamily="34" charset="-120"/>
              </a:rPr>
              <a:t>Answers fitted to the schema, never crash</a:t>
            </a:r>
            <a:endParaRPr lang="en-US" sz="1600" dirty="0"/>
          </a:p>
        </p:txBody>
      </p:sp>
      <p:sp>
        <p:nvSpPr>
          <p:cNvPr id="15" name="Text 10"/>
          <p:cNvSpPr/>
          <p:nvPr/>
        </p:nvSpPr>
        <p:spPr>
          <a:xfrm>
            <a:off x="812800" y="4899952"/>
            <a:ext cx="10566400" cy="838200"/>
          </a:xfrm>
          <a:prstGeom prst="roundRect">
            <a:avLst>
              <a:gd name="adj" fmla="val 10606"/>
            </a:avLst>
          </a:prstGeom>
          <a:solidFill>
            <a:srgbClr val="FCE9DC"/>
          </a:solidFill>
          <a:ln/>
        </p:spPr>
        <p:txBody>
          <a:bodyPr wrap="square" lIns="177162" tIns="126362" rIns="0" bIns="100962" rtlCol="0" anchor="t">
            <a:normAutofit/>
          </a:bodyPr>
          <a:lstStyle/>
          <a:p>
            <a:pPr algn="l" indent="0" marL="0">
              <a:lnSpc>
                <a:spcPts val="2100"/>
              </a:lnSpc>
              <a:buNone/>
            </a:pPr>
            <a:r>
              <a:rPr lang="en-US" sz="1500" dirty="0">
                <a:solidFill>
                  <a:srgbClr val="13233F"/>
                </a:solidFill>
                <a:latin typeface="IBM Plex Sans" pitchFamily="34" charset="0"/>
                <a:ea typeface="IBM Plex Sans" pitchFamily="34" charset="-122"/>
                <a:cs typeface="IBM Plex Sans" pitchFamily="34" charset="-120"/>
              </a:rPr>
              <a:t>Free tiers allow about 30K tokens a minute with these keys, so a full conference takes about 14 minutes. One paid key brings it under 5.</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33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5F0"/>
                </a:solidFill>
                <a:latin typeface="IBM Plex Sans" pitchFamily="34" charset="0"/>
                <a:ea typeface="IBM Plex Sans" pitchFamily="34" charset="-122"/>
                <a:cs typeface="IBM Plex Sans" pitchFamily="34" charset="-120"/>
              </a:rPr>
              <a:t>What one full run produced</a:t>
            </a:r>
            <a:endParaRPr lang="en-US" sz="3200" dirty="0"/>
          </a:p>
        </p:txBody>
      </p:sp>
      <p:sp>
        <p:nvSpPr>
          <p:cNvPr id="3" name="Text 1"/>
          <p:cNvSpPr/>
          <p:nvPr/>
        </p:nvSpPr>
        <p:spPr>
          <a:xfrm>
            <a:off x="812800" y="1386815"/>
            <a:ext cx="2009228"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F6F5F0"/>
                </a:solidFill>
                <a:latin typeface="IBM Plex Sans" pitchFamily="34" charset="0"/>
                <a:ea typeface="IBM Plex Sans" pitchFamily="34" charset="-122"/>
                <a:cs typeface="IBM Plex Sans" pitchFamily="34" charset="-120"/>
              </a:rPr>
              <a:t>119</a:t>
            </a:r>
            <a:endParaRPr lang="en-US" sz="4000" dirty="0"/>
          </a:p>
        </p:txBody>
      </p:sp>
      <p:sp>
        <p:nvSpPr>
          <p:cNvPr id="4" name="Text 2"/>
          <p:cNvSpPr/>
          <p:nvPr/>
        </p:nvSpPr>
        <p:spPr>
          <a:xfrm>
            <a:off x="812800" y="1958315"/>
            <a:ext cx="200922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companies scored</a:t>
            </a:r>
            <a:endParaRPr lang="en-US" sz="1300" dirty="0"/>
          </a:p>
        </p:txBody>
      </p:sp>
      <p:sp>
        <p:nvSpPr>
          <p:cNvPr id="5" name="Text 3"/>
          <p:cNvSpPr/>
          <p:nvPr/>
        </p:nvSpPr>
        <p:spPr>
          <a:xfrm>
            <a:off x="2966707" y="1386815"/>
            <a:ext cx="2009296"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E0712B"/>
                </a:solidFill>
                <a:latin typeface="IBM Plex Sans" pitchFamily="34" charset="0"/>
                <a:ea typeface="IBM Plex Sans" pitchFamily="34" charset="-122"/>
                <a:cs typeface="IBM Plex Sans" pitchFamily="34" charset="-120"/>
              </a:rPr>
              <a:t>34</a:t>
            </a:r>
            <a:endParaRPr lang="en-US" sz="4000" dirty="0"/>
          </a:p>
        </p:txBody>
      </p:sp>
      <p:sp>
        <p:nvSpPr>
          <p:cNvPr id="6" name="Text 4"/>
          <p:cNvSpPr/>
          <p:nvPr/>
        </p:nvSpPr>
        <p:spPr>
          <a:xfrm>
            <a:off x="2966707" y="1958315"/>
            <a:ext cx="200929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A-tier prospects</a:t>
            </a:r>
            <a:endParaRPr lang="en-US" sz="1300" dirty="0"/>
          </a:p>
        </p:txBody>
      </p:sp>
      <p:sp>
        <p:nvSpPr>
          <p:cNvPr id="7" name="Text 5"/>
          <p:cNvSpPr/>
          <p:nvPr/>
        </p:nvSpPr>
        <p:spPr>
          <a:xfrm>
            <a:off x="5120680" y="1386815"/>
            <a:ext cx="2009228"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F6F5F0"/>
                </a:solidFill>
                <a:latin typeface="IBM Plex Sans" pitchFamily="34" charset="0"/>
                <a:ea typeface="IBM Plex Sans" pitchFamily="34" charset="-122"/>
                <a:cs typeface="IBM Plex Sans" pitchFamily="34" charset="-120"/>
              </a:rPr>
              <a:t>0</a:t>
            </a:r>
            <a:endParaRPr lang="en-US" sz="4000" dirty="0"/>
          </a:p>
        </p:txBody>
      </p:sp>
      <p:sp>
        <p:nvSpPr>
          <p:cNvPr id="8" name="Text 6"/>
          <p:cNvSpPr/>
          <p:nvPr/>
        </p:nvSpPr>
        <p:spPr>
          <a:xfrm>
            <a:off x="5120680" y="1958315"/>
            <a:ext cx="200922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errors</a:t>
            </a:r>
            <a:endParaRPr lang="en-US" sz="1300" dirty="0"/>
          </a:p>
        </p:txBody>
      </p:sp>
      <p:sp>
        <p:nvSpPr>
          <p:cNvPr id="9" name="Text 7"/>
          <p:cNvSpPr/>
          <p:nvPr/>
        </p:nvSpPr>
        <p:spPr>
          <a:xfrm>
            <a:off x="7274587" y="1386815"/>
            <a:ext cx="2009228" cy="10922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F6F5F0"/>
                </a:solidFill>
                <a:latin typeface="IBM Plex Sans" pitchFamily="34" charset="0"/>
                <a:ea typeface="IBM Plex Sans" pitchFamily="34" charset="-122"/>
                <a:cs typeface="IBM Plex Sans" pitchFamily="34" charset="-120"/>
              </a:rPr>
              <a:t>14.5 min</a:t>
            </a:r>
            <a:endParaRPr lang="en-US" sz="4000" dirty="0"/>
          </a:p>
        </p:txBody>
      </p:sp>
      <p:sp>
        <p:nvSpPr>
          <p:cNvPr id="10" name="Text 8"/>
          <p:cNvSpPr/>
          <p:nvPr/>
        </p:nvSpPr>
        <p:spPr>
          <a:xfrm>
            <a:off x="7274587" y="2491715"/>
            <a:ext cx="200922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full conference</a:t>
            </a:r>
            <a:endParaRPr lang="en-US" sz="1300" dirty="0"/>
          </a:p>
        </p:txBody>
      </p:sp>
      <p:sp>
        <p:nvSpPr>
          <p:cNvPr id="11" name="Text 9"/>
          <p:cNvSpPr/>
          <p:nvPr/>
        </p:nvSpPr>
        <p:spPr>
          <a:xfrm>
            <a:off x="9428493" y="1386815"/>
            <a:ext cx="2009228"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F6F5F0"/>
                </a:solidFill>
                <a:latin typeface="IBM Plex Sans" pitchFamily="34" charset="0"/>
                <a:ea typeface="IBM Plex Sans" pitchFamily="34" charset="-122"/>
                <a:cs typeface="IBM Plex Sans" pitchFamily="34" charset="-120"/>
              </a:rPr>
              <a:t>199</a:t>
            </a:r>
            <a:endParaRPr lang="en-US" sz="4000" dirty="0"/>
          </a:p>
        </p:txBody>
      </p:sp>
      <p:sp>
        <p:nvSpPr>
          <p:cNvPr id="12" name="Text 10"/>
          <p:cNvSpPr/>
          <p:nvPr/>
        </p:nvSpPr>
        <p:spPr>
          <a:xfrm>
            <a:off x="9428493" y="1958315"/>
            <a:ext cx="200922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model calls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5500" y="2964129"/>
          <a:ext cx="10553700" cy="2515129"/>
        </p:xfrm>
        <a:graphic>
          <a:graphicData uri="http://schemas.openxmlformats.org/drawingml/2006/table">
            <a:tbl>
              <a:tblPr/>
              <a:tblGrid>
                <a:gridCol w="2849499"/>
                <a:gridCol w="949833"/>
                <a:gridCol w="2110740"/>
                <a:gridCol w="4643628"/>
              </a:tblGrid>
              <a:tr h="359304">
                <a:tc>
                  <a:txBody>
                    <a:bodyPr/>
                    <a:lstStyle/>
                    <a:p>
                      <a:pPr indent="0" marL="0">
                        <a:lnSpc>
                          <a:spcPts val="1820"/>
                        </a:lnSpc>
                        <a:buNone/>
                      </a:pPr>
                      <a:r>
                        <a:rPr lang="en-US" sz="1300" b="1" dirty="0">
                          <a:solidFill>
                            <a:srgbClr val="F6F5F0"/>
                          </a:solidFill>
                          <a:latin typeface="IBM Plex Sans" pitchFamily="34" charset="0"/>
                          <a:ea typeface="IBM Plex Sans" pitchFamily="34" charset="-122"/>
                          <a:cs typeface="IBM Plex Sans" pitchFamily="34" charset="-120"/>
                        </a:rPr>
                        <a:t>Top accounts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545F73"/>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545F73"/>
                      </a:solidFill>
                      <a:prstDash val="solid"/>
                      <a:round/>
                      <a:headEnd type="none" w="med" len="med"/>
                      <a:tailEnd type="none" w="med" len="med"/>
                    </a:lnB>
                    <a:solidFill>
                      <a:srgbClr val="25344E"/>
                    </a:solidFill>
                  </a:tcPr>
                </a:tc>
                <a:tc>
                  <a:txBody>
                    <a:bodyPr/>
                    <a:lstStyle/>
                    <a:p>
                      <a:pPr algn="r" indent="0" marL="0">
                        <a:lnSpc>
                          <a:spcPts val="1820"/>
                        </a:lnSpc>
                        <a:buNone/>
                      </a:pPr>
                      <a:r>
                        <a:rPr lang="en-US" sz="1300" b="1" dirty="0">
                          <a:solidFill>
                            <a:srgbClr val="F6F5F0"/>
                          </a:solidFill>
                          <a:latin typeface="IBM Plex Sans" pitchFamily="34" charset="0"/>
                          <a:ea typeface="IBM Plex Sans" pitchFamily="34" charset="-122"/>
                          <a:cs typeface="IBM Plex Sans" pitchFamily="34" charset="-120"/>
                        </a:rPr>
                        <a:t>Score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545F73"/>
                      </a:solidFill>
                      <a:prstDash val="solid"/>
                      <a:round/>
                      <a:headEnd type="none" w="med" len="med"/>
                      <a:tailEnd type="none" w="med" len="med"/>
                    </a:lnL>
                    <a:lnR w="12700" cap="flat" cmpd="sng" algn="ctr">
                      <a:solidFill>
                        <a:srgbClr val="545F73"/>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545F73"/>
                      </a:solidFill>
                      <a:prstDash val="solid"/>
                      <a:round/>
                      <a:headEnd type="none" w="med" len="med"/>
                      <a:tailEnd type="none" w="med" len="med"/>
                    </a:lnB>
                    <a:solidFill>
                      <a:srgbClr val="25344E"/>
                    </a:solidFill>
                  </a:tcPr>
                </a:tc>
                <a:tc>
                  <a:txBody>
                    <a:bodyPr/>
                    <a:lstStyle/>
                    <a:p>
                      <a:pPr indent="0" marL="0">
                        <a:lnSpc>
                          <a:spcPts val="1820"/>
                        </a:lnSpc>
                        <a:buNone/>
                      </a:pPr>
                      <a:r>
                        <a:rPr lang="en-US" sz="1300" b="1" dirty="0">
                          <a:solidFill>
                            <a:srgbClr val="F6F5F0"/>
                          </a:solidFill>
                          <a:latin typeface="IBM Plex Sans" pitchFamily="34" charset="0"/>
                          <a:ea typeface="IBM Plex Sans" pitchFamily="34" charset="-122"/>
                          <a:cs typeface="IBM Plex Sans" pitchFamily="34" charset="-120"/>
                        </a:rPr>
                        <a:t>Industry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545F73"/>
                      </a:solidFill>
                      <a:prstDash val="solid"/>
                      <a:round/>
                      <a:headEnd type="none" w="med" len="med"/>
                      <a:tailEnd type="none" w="med" len="med"/>
                    </a:lnL>
                    <a:lnR w="12700" cap="flat" cmpd="sng" algn="ctr">
                      <a:solidFill>
                        <a:srgbClr val="545F73"/>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545F73"/>
                      </a:solidFill>
                      <a:prstDash val="solid"/>
                      <a:round/>
                      <a:headEnd type="none" w="med" len="med"/>
                      <a:tailEnd type="none" w="med" len="med"/>
                    </a:lnB>
                    <a:solidFill>
                      <a:srgbClr val="25344E"/>
                    </a:solidFill>
                  </a:tcPr>
                </a:tc>
                <a:tc>
                  <a:txBody>
                    <a:bodyPr/>
                    <a:lstStyle/>
                    <a:p>
                      <a:pPr indent="0" marL="0">
                        <a:lnSpc>
                          <a:spcPts val="1820"/>
                        </a:lnSpc>
                        <a:buNone/>
                      </a:pPr>
                      <a:r>
                        <a:rPr lang="en-US" sz="1300" b="1" dirty="0">
                          <a:solidFill>
                            <a:srgbClr val="F6F5F0"/>
                          </a:solidFill>
                          <a:latin typeface="IBM Plex Sans" pitchFamily="34" charset="0"/>
                          <a:ea typeface="IBM Plex Sans" pitchFamily="34" charset="-122"/>
                          <a:cs typeface="IBM Plex Sans" pitchFamily="34" charset="-120"/>
                        </a:rPr>
                        <a:t>Who to meet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545F73"/>
                      </a:solidFill>
                      <a:prstDash val="solid"/>
                      <a:round/>
                      <a:headEnd type="none" w="med" len="med"/>
                      <a:tailEnd type="none" w="med" len="med"/>
                    </a:lnL>
                    <a:lnR w="12700" cap="flat" cmpd="sng" algn="ctr">
                      <a:solidFill>
                        <a:srgbClr val="545F73"/>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545F73"/>
                      </a:solidFill>
                      <a:prstDash val="solid"/>
                      <a:round/>
                      <a:headEnd type="none" w="med" len="med"/>
                      <a:tailEnd type="none" w="med" len="med"/>
                    </a:lnB>
                    <a:solidFill>
                      <a:srgbClr val="25344E"/>
                    </a:solidFill>
                  </a:tcPr>
                </a:tc>
              </a:tr>
              <a:tr h="359304">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Illumina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545F73"/>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algn="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96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545F73"/>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Lab instruments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545F73"/>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Halleh Ahadian, Sr. Director Technical Support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545F73"/>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r>
              <a:tr h="359304">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Medtronic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algn="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95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Medical devices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Jaime Thelen, Director Commercial Service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r>
              <a:tr h="359304">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Siemens Smart Infrastructure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algn="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93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Industrial equipment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Brad Haeberle, EVP Services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r>
              <a:tr h="359304">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Agilent Technologies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algn="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91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Lab instruments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Armin Jehle, VP Worldwide Customer Service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r>
              <a:tr h="359304">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Schneider Electric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algn="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89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Industrial equipment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Megan Schlam, VP U.S. Services Execution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r>
              <a:tr h="359304">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Hach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algn="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87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Lab instruments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c>
                  <a:txBody>
                    <a:bodyPr/>
                    <a:lstStyle/>
                    <a:p>
                      <a:pPr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David Mueller, VP Global Service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65267"/>
                      </a:solidFill>
                      <a:prstDash val="solid"/>
                      <a:round/>
                      <a:headEnd type="none" w="med" len="med"/>
                      <a:tailEnd type="none" w="med" len="med"/>
                    </a:lnL>
                    <a:lnR w="12700" cap="flat" cmpd="sng" algn="ctr">
                      <a:solidFill>
                        <a:srgbClr val="465267"/>
                      </a:solidFill>
                      <a:prstDash val="solid"/>
                      <a:round/>
                      <a:headEnd type="none" w="med" len="med"/>
                      <a:tailEnd type="none" w="med" len="med"/>
                    </a:lnR>
                    <a:lnT w="12700" cap="flat" cmpd="sng" algn="ctr">
                      <a:solidFill>
                        <a:srgbClr val="465267"/>
                      </a:solidFill>
                      <a:prstDash val="solid"/>
                      <a:round/>
                      <a:headEnd type="none" w="med" len="med"/>
                      <a:tailEnd type="none" w="med" len="med"/>
                    </a:lnT>
                    <a:lnB w="12700" cap="flat" cmpd="sng" algn="ctr">
                      <a:solidFill>
                        <a:srgbClr val="465267"/>
                      </a:solidFill>
                      <a:prstDash val="solid"/>
                      <a:round/>
                      <a:headEnd type="none" w="med" len="med"/>
                      <a:tailEnd type="none" w="med" len="med"/>
                    </a:lnB>
                  </a:tcPr>
                </a:tc>
              </a:tr>
            </a:tbl>
          </a:graphicData>
        </a:graphic>
      </p:graphicFrame>
      <p:sp>
        <p:nvSpPr>
          <p:cNvPr id="14" name="Text 11"/>
          <p:cNvSpPr/>
          <p:nvPr/>
        </p:nvSpPr>
        <p:spPr>
          <a:xfrm>
            <a:off x="812800" y="5707856"/>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Plus 130 contacts with draft openers, 154 sourced evidence rows and 56 outreach plays. Openers are drafts: a person reviews every one.</a:t>
            </a:r>
            <a:endParaRPr lang="en-US" sz="1200" dirty="0"/>
          </a:p>
        </p:txBody>
      </p:sp>
    </p:spTree>
  </p:cSld>
  <p:clrMapOvr>
    <a:masterClrMapping/>
  </p:clrMapOvr>
</p:sld>
</file>

<file path=ppt/theme/theme1.xml><?xml version="1.0" encoding="utf-8"?>
<a:theme xmlns:a="http://schemas.openxmlformats.org/drawingml/2006/main" name="ICP Agent Team Architecture">
  <a:themeElements>
    <a:clrScheme name="ICP Agent Team Architecture">
      <a:dk1>
        <a:srgbClr val="13233F"/>
      </a:dk1>
      <a:lt1>
        <a:srgbClr val="F6F5F0"/>
      </a:lt1>
      <a:dk2>
        <a:srgbClr val="4C586B"/>
      </a:dk2>
      <a:lt2>
        <a:srgbClr val="DFE0DE"/>
      </a:lt2>
      <a:accent1>
        <a:srgbClr val="A94E16"/>
      </a:accent1>
      <a:accent2>
        <a:srgbClr val="2B5C9E"/>
      </a:accent2>
      <a:accent3>
        <a:srgbClr val="2C4166"/>
      </a:accent3>
      <a:accent4>
        <a:srgbClr val="E0712B"/>
      </a:accent4>
      <a:accent5>
        <a:srgbClr val="4A5568"/>
      </a:accent5>
      <a:accent6>
        <a:srgbClr val="C9D3E0"/>
      </a:accent6>
      <a:hlink>
        <a:srgbClr val="0563C1"/>
      </a:hlink>
      <a:folHlink>
        <a:srgbClr val="954F72"/>
      </a:folHlink>
    </a:clrScheme>
    <a:fontScheme name="ICP Agent Team Architectur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ICP Agent Team Architecture</dc:title>
  <dc:subject/>
  <dc:creator/>
  <cp:lastModifiedBy/>
  <cp:revision>1</cp:revision>
  <dcterms:created xsi:type="dcterms:W3CDTF">2026-10-03T14:28:52Z</dcterms:created>
  <dcterms:modified xsi:type="dcterms:W3CDTF">2026-10-03T14:28:52Z</dcterms:modified>
</cp:coreProperties>
</file>